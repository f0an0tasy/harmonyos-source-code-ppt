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8141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4" name="Rectangle 3"/>
          <p:cNvSpPr/>
          <p:nvPr/>
        </p:nvSpPr>
        <p:spPr>
          <a:xfrm>
            <a:off x="0" y="914400"/>
            <a:ext cx="12191695" cy="73152"/>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Oval 4"/>
          <p:cNvSpPr/>
          <p:nvPr/>
        </p:nvSpPr>
        <p:spPr>
          <a:xfrm>
            <a:off x="8823960" y="1417320"/>
            <a:ext cx="4069080" cy="4069080"/>
          </a:xfrm>
          <a:prstGeom prst="ellipse">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Oval 5"/>
          <p:cNvSpPr/>
          <p:nvPr/>
        </p:nvSpPr>
        <p:spPr>
          <a:xfrm>
            <a:off x="9235440" y="1828800"/>
            <a:ext cx="3246120" cy="3246120"/>
          </a:xfrm>
          <a:prstGeom prst="ellips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7" name="Oval 6"/>
          <p:cNvSpPr/>
          <p:nvPr/>
        </p:nvSpPr>
        <p:spPr>
          <a:xfrm>
            <a:off x="9646920" y="2240280"/>
            <a:ext cx="2423160" cy="2423160"/>
          </a:xfrm>
          <a:prstGeom prst="ellipse">
            <a:avLst/>
          </a:prstGeom>
          <a:solidFill>
            <a:srgbClr val="68141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8" name="TextBox 7"/>
          <p:cNvSpPr txBox="1"/>
          <p:nvPr/>
        </p:nvSpPr>
        <p:spPr>
          <a:xfrm>
            <a:off x="713232" y="310896"/>
            <a:ext cx="5394960" cy="256032"/>
          </a:xfrm>
          <a:prstGeom prst="rect">
            <a:avLst/>
          </a:prstGeom>
          <a:noFill/>
        </p:spPr>
        <p:txBody>
          <a:bodyPr wrap="square" lIns="22860" rIns="22860" tIns="16459" bIns="16459" anchor="ctr">
            <a:normAutofit/>
          </a:bodyPr>
          <a:lstStyle/>
          <a:p>
            <a:pPr algn="l"/>
            <a:r>
              <a:rPr sz="1350" b="1">
                <a:solidFill>
                  <a:srgbClr val="FFFDF8"/>
                </a:solidFill>
                <a:latin typeface="Microsoft YaHei"/>
                <a:ea typeface="Microsoft YaHei"/>
                <a:cs typeface="Microsoft YaHei"/>
              </a:rPr>
              <a:t>习近平新时代中国特色社会主义思想学习汇报</a:t>
            </a:r>
          </a:p>
        </p:txBody>
      </p:sp>
      <p:sp>
        <p:nvSpPr>
          <p:cNvPr id="9" name="TextBox 8"/>
          <p:cNvSpPr txBox="1"/>
          <p:nvPr/>
        </p:nvSpPr>
        <p:spPr>
          <a:xfrm>
            <a:off x="804672" y="1536192"/>
            <a:ext cx="7909560" cy="1627632"/>
          </a:xfrm>
          <a:prstGeom prst="rect">
            <a:avLst/>
          </a:prstGeom>
          <a:noFill/>
        </p:spPr>
        <p:txBody>
          <a:bodyPr wrap="square" lIns="22860" rIns="22860" tIns="16459" bIns="16459" anchor="t">
            <a:normAutofit/>
          </a:bodyPr>
          <a:lstStyle/>
          <a:p>
            <a:pPr algn="l">
              <a:lnSpc>
                <a:spcPct val="90000"/>
              </a:lnSpc>
            </a:pPr>
            <a:r>
              <a:rPr sz="3500" b="1">
                <a:solidFill>
                  <a:srgbClr val="FFFDF8"/>
                </a:solidFill>
                <a:latin typeface="Microsoft YaHei"/>
                <a:ea typeface="Microsoft YaHei"/>
                <a:cs typeface="Microsoft YaHei"/>
              </a:rPr>
              <a:t>为什么要坚持马克思主义在意识形态领域指导地位的根本制度</a:t>
            </a:r>
          </a:p>
        </p:txBody>
      </p:sp>
      <p:sp>
        <p:nvSpPr>
          <p:cNvPr id="10" name="Rectangle 9"/>
          <p:cNvSpPr/>
          <p:nvPr/>
        </p:nvSpPr>
        <p:spPr>
          <a:xfrm>
            <a:off x="841248" y="3419856"/>
            <a:ext cx="2560320"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TextBox 10"/>
          <p:cNvSpPr txBox="1"/>
          <p:nvPr/>
        </p:nvSpPr>
        <p:spPr>
          <a:xfrm>
            <a:off x="804672" y="3703320"/>
            <a:ext cx="6217920" cy="329184"/>
          </a:xfrm>
          <a:prstGeom prst="rect">
            <a:avLst/>
          </a:prstGeom>
          <a:noFill/>
        </p:spPr>
        <p:txBody>
          <a:bodyPr wrap="square" lIns="22860" rIns="22860" tIns="16459" bIns="16459" anchor="ctr">
            <a:normAutofit/>
          </a:bodyPr>
          <a:lstStyle/>
          <a:p>
            <a:pPr algn="l"/>
            <a:r>
              <a:rPr sz="1900" b="1">
                <a:solidFill>
                  <a:srgbClr val="EFE1BC"/>
                </a:solidFill>
                <a:latin typeface="Microsoft YaHei"/>
                <a:ea typeface="Microsoft YaHei"/>
                <a:cs typeface="Microsoft YaHei"/>
              </a:rPr>
              <a:t>第十章 · 习近平新时代中国特色社会主义思想学习汇报</a:t>
            </a:r>
          </a:p>
        </p:txBody>
      </p:sp>
      <p:sp>
        <p:nvSpPr>
          <p:cNvPr id="12" name="Rounded Rectangle 11"/>
          <p:cNvSpPr/>
          <p:nvPr/>
        </p:nvSpPr>
        <p:spPr>
          <a:xfrm>
            <a:off x="804672" y="4370832"/>
            <a:ext cx="7132320" cy="749808"/>
          </a:xfrm>
          <a:prstGeom prst="roundRect">
            <a:avLst/>
          </a:prstGeom>
          <a:solidFill>
            <a:srgbClr val="FFFDF8"/>
          </a:solidFill>
          <a:ln w="12700">
            <a:solidFill>
              <a:srgbClr val="C99A3F"/>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3" name="TextBox 12"/>
          <p:cNvSpPr txBox="1"/>
          <p:nvPr/>
        </p:nvSpPr>
        <p:spPr>
          <a:xfrm>
            <a:off x="1024128" y="4535424"/>
            <a:ext cx="6620256" cy="402336"/>
          </a:xfrm>
          <a:prstGeom prst="rect">
            <a:avLst/>
          </a:prstGeom>
          <a:noFill/>
        </p:spPr>
        <p:txBody>
          <a:bodyPr wrap="square" lIns="22860" rIns="22860" tIns="16459" bIns="16459" anchor="t">
            <a:normAutofit/>
          </a:bodyPr>
          <a:lstStyle/>
          <a:p>
            <a:pPr algn="l"/>
            <a:r>
              <a:rPr sz="1050" b="0">
                <a:solidFill>
                  <a:srgbClr val="251F1E"/>
                </a:solidFill>
                <a:latin typeface="Microsoft YaHei"/>
                <a:ea typeface="Microsoft YaHei"/>
                <a:cs typeface="Microsoft YaHei"/>
              </a:rPr>
              <a:t>从理论逻辑、历史逻辑、现实挑战和制度实践四个方面说明这一根本制度的必要性与现实意义。</a:t>
            </a:r>
          </a:p>
        </p:txBody>
      </p:sp>
      <p:sp>
        <p:nvSpPr>
          <p:cNvPr id="14" name="TextBox 13"/>
          <p:cNvSpPr txBox="1"/>
          <p:nvPr/>
        </p:nvSpPr>
        <p:spPr>
          <a:xfrm>
            <a:off x="841248" y="5559552"/>
            <a:ext cx="2926080" cy="292608"/>
          </a:xfrm>
          <a:prstGeom prst="rect">
            <a:avLst/>
          </a:prstGeom>
          <a:noFill/>
        </p:spPr>
        <p:txBody>
          <a:bodyPr wrap="square" lIns="22860" rIns="22860" tIns="16459" bIns="16459" anchor="ctr">
            <a:normAutofit/>
          </a:bodyPr>
          <a:lstStyle/>
          <a:p>
            <a:pPr algn="l"/>
            <a:r>
              <a:rPr sz="1300" b="0">
                <a:solidFill>
                  <a:srgbClr val="EFE1BC"/>
                </a:solidFill>
                <a:latin typeface="Microsoft YaHei"/>
                <a:ea typeface="Microsoft YaHei"/>
                <a:cs typeface="Microsoft YaHei"/>
              </a:rPr>
              <a:t>汇报人：王奕瑞</a:t>
            </a:r>
          </a:p>
        </p:txBody>
      </p:sp>
      <p:sp>
        <p:nvSpPr>
          <p:cNvPr id="15" name="TextBox 14"/>
          <p:cNvSpPr txBox="1"/>
          <p:nvPr/>
        </p:nvSpPr>
        <p:spPr>
          <a:xfrm>
            <a:off x="3566160" y="5559552"/>
            <a:ext cx="5394960" cy="228600"/>
          </a:xfrm>
          <a:prstGeom prst="rect">
            <a:avLst/>
          </a:prstGeom>
          <a:noFill/>
        </p:spPr>
        <p:txBody>
          <a:bodyPr wrap="square" lIns="22860" rIns="22860" tIns="16459" bIns="16459" anchor="ctr">
            <a:normAutofit/>
          </a:bodyPr>
          <a:lstStyle/>
          <a:p>
            <a:pPr algn="l"/>
            <a:r>
              <a:rPr sz="1300" b="0">
                <a:solidFill>
                  <a:srgbClr val="EFE1BC"/>
                </a:solidFill>
                <a:latin typeface="Microsoft YaHei"/>
                <a:ea typeface="Microsoft YaHei"/>
                <a:cs typeface="Microsoft YaHei"/>
              </a:rPr>
              <a:t>小组成员：王奕瑞、王一帆、段铭宇</a:t>
            </a:r>
          </a:p>
        </p:txBody>
      </p:sp>
      <p:sp>
        <p:nvSpPr>
          <p:cNvPr id="16" name="TextBox 15"/>
          <p:cNvSpPr txBox="1"/>
          <p:nvPr/>
        </p:nvSpPr>
        <p:spPr>
          <a:xfrm>
            <a:off x="9921240" y="6364224"/>
            <a:ext cx="1645920" cy="292608"/>
          </a:xfrm>
          <a:prstGeom prst="rect">
            <a:avLst/>
          </a:prstGeom>
          <a:noFill/>
        </p:spPr>
        <p:txBody>
          <a:bodyPr wrap="square" lIns="22860" rIns="22860" tIns="16459" bIns="16459" anchor="ctr">
            <a:normAutofit/>
          </a:bodyPr>
          <a:lstStyle/>
          <a:p>
            <a:pPr algn="ctr"/>
            <a:r>
              <a:rPr sz="819" b="0">
                <a:solidFill>
                  <a:srgbClr val="EFE1BC"/>
                </a:solidFill>
                <a:latin typeface="Microsoft YaHei"/>
                <a:ea typeface="Microsoft YaHei"/>
                <a:cs typeface="Microsoft YaHei"/>
              </a:rPr>
              <a:t>第 1 页／共 20 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182880"/>
          </a:xfrm>
          <a:prstGeom prst="rect">
            <a:avLst/>
          </a:prstGeom>
          <a:noFill/>
        </p:spPr>
        <p:txBody>
          <a:bodyPr wrap="square" lIns="22860" rIns="22860" tIns="16459" bIns="16459" anchor="ctr">
            <a:normAutofit/>
          </a:bodyPr>
          <a:lstStyle/>
          <a:p>
            <a:pPr algn="ctr"/>
            <a:r>
              <a:rPr sz="980" b="1">
                <a:solidFill>
                  <a:srgbClr val="FFFDF8"/>
                </a:solidFill>
                <a:latin typeface="Microsoft YaHei"/>
                <a:ea typeface="Microsoft YaHei"/>
                <a:cs typeface="Microsoft YaHei"/>
              </a:rPr>
              <a:t>目录</a:t>
            </a:r>
          </a:p>
        </p:txBody>
      </p:sp>
      <p:sp>
        <p:nvSpPr>
          <p:cNvPr id="8" name="TextBox 7"/>
          <p:cNvSpPr txBox="1"/>
          <p:nvPr/>
        </p:nvSpPr>
        <p:spPr>
          <a:xfrm>
            <a:off x="9948672" y="6327648"/>
            <a:ext cx="1664208" cy="274320"/>
          </a:xfrm>
          <a:prstGeom prst="rect">
            <a:avLst/>
          </a:prstGeom>
          <a:noFill/>
        </p:spPr>
        <p:txBody>
          <a:bodyPr wrap="square" lIns="22860" rIns="22860" tIns="16459" bIns="16459" anchor="ctr">
            <a:normAutofit/>
          </a:bodyPr>
          <a:lstStyle/>
          <a:p>
            <a:pPr algn="ctr"/>
            <a:r>
              <a:rPr sz="800" b="0">
                <a:solidFill>
                  <a:srgbClr val="6D625C"/>
                </a:solidFill>
                <a:latin typeface="Microsoft YaHei"/>
                <a:ea typeface="Microsoft YaHei"/>
                <a:cs typeface="Microsoft YaHei"/>
              </a:rPr>
              <a:t>第 2 页／共 20 页</a:t>
            </a:r>
          </a:p>
        </p:txBody>
      </p:sp>
      <p:sp>
        <p:nvSpPr>
          <p:cNvPr id="9" name="TextBox 8"/>
          <p:cNvSpPr txBox="1"/>
          <p:nvPr/>
        </p:nvSpPr>
        <p:spPr>
          <a:xfrm>
            <a:off x="603504" y="694944"/>
            <a:ext cx="4754880" cy="621792"/>
          </a:xfrm>
          <a:prstGeom prst="rect">
            <a:avLst/>
          </a:prstGeom>
          <a:noFill/>
        </p:spPr>
        <p:txBody>
          <a:bodyPr wrap="square" lIns="22860" rIns="22860" tIns="16459" bIns="16459" anchor="ctr">
            <a:normAutofit/>
          </a:bodyPr>
          <a:lstStyle/>
          <a:p>
            <a:pPr algn="l"/>
            <a:r>
              <a:rPr sz="2900" b="1">
                <a:solidFill>
                  <a:srgbClr val="681412"/>
                </a:solidFill>
                <a:latin typeface="Microsoft YaHei"/>
                <a:ea typeface="Microsoft YaHei"/>
                <a:cs typeface="Microsoft YaHei"/>
              </a:rPr>
              <a:t>六部分逻辑路线</a:t>
            </a:r>
          </a:p>
        </p:txBody>
      </p:sp>
      <p:sp>
        <p:nvSpPr>
          <p:cNvPr id="10" name="TextBox 9"/>
          <p:cNvSpPr txBox="1"/>
          <p:nvPr/>
        </p:nvSpPr>
        <p:spPr>
          <a:xfrm>
            <a:off x="658368" y="1298448"/>
            <a:ext cx="8046720" cy="310896"/>
          </a:xfrm>
          <a:prstGeom prst="rect">
            <a:avLst/>
          </a:prstGeom>
          <a:noFill/>
        </p:spPr>
        <p:txBody>
          <a:bodyPr wrap="square" lIns="22860" rIns="22860" tIns="16459" bIns="16459" anchor="t">
            <a:normAutofit/>
          </a:bodyPr>
          <a:lstStyle/>
          <a:p>
            <a:pPr algn="l"/>
            <a:r>
              <a:rPr sz="1200" b="0">
                <a:solidFill>
                  <a:srgbClr val="6D625C"/>
                </a:solidFill>
                <a:latin typeface="Microsoft YaHei"/>
                <a:ea typeface="Microsoft YaHei"/>
                <a:cs typeface="Microsoft YaHei"/>
              </a:rPr>
              <a:t>从“为什么”到“怎样做”，保持原大纲结构，用更清晰的卡片展示。</a:t>
            </a:r>
          </a:p>
        </p:txBody>
      </p:sp>
      <p:sp>
        <p:nvSpPr>
          <p:cNvPr id="11" name="Rounded Rectangle 10"/>
          <p:cNvSpPr/>
          <p:nvPr/>
        </p:nvSpPr>
        <p:spPr>
          <a:xfrm>
            <a:off x="749808" y="1901952"/>
            <a:ext cx="3246120" cy="1335024"/>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Oval 11"/>
          <p:cNvSpPr/>
          <p:nvPr/>
        </p:nvSpPr>
        <p:spPr>
          <a:xfrm>
            <a:off x="950976" y="2103120"/>
            <a:ext cx="530352" cy="530352"/>
          </a:xfrm>
          <a:prstGeom prst="ellipse">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3" name="TextBox 12"/>
          <p:cNvSpPr txBox="1"/>
          <p:nvPr/>
        </p:nvSpPr>
        <p:spPr>
          <a:xfrm>
            <a:off x="1097280" y="2267712"/>
            <a:ext cx="228600" cy="109728"/>
          </a:xfrm>
          <a:prstGeom prst="rect">
            <a:avLst/>
          </a:prstGeom>
          <a:noFill/>
        </p:spPr>
        <p:txBody>
          <a:bodyPr wrap="square" lIns="22860" rIns="22860" tIns="16459" bIns="16459" anchor="ctr">
            <a:normAutofit/>
          </a:bodyPr>
          <a:lstStyle/>
          <a:p>
            <a:pPr algn="ctr"/>
            <a:r>
              <a:rPr sz="1100" b="1">
                <a:solidFill>
                  <a:srgbClr val="FFFDF8"/>
                </a:solidFill>
                <a:latin typeface="Microsoft YaHei"/>
                <a:ea typeface="Microsoft YaHei"/>
                <a:cs typeface="Microsoft YaHei"/>
              </a:rPr>
              <a:t>一</a:t>
            </a:r>
          </a:p>
        </p:txBody>
      </p:sp>
      <p:sp>
        <p:nvSpPr>
          <p:cNvPr id="14" name="TextBox 13"/>
          <p:cNvSpPr txBox="1"/>
          <p:nvPr/>
        </p:nvSpPr>
        <p:spPr>
          <a:xfrm>
            <a:off x="1645919" y="2121408"/>
            <a:ext cx="1993392" cy="804672"/>
          </a:xfrm>
          <a:prstGeom prst="rect">
            <a:avLst/>
          </a:prstGeom>
          <a:noFill/>
        </p:spPr>
        <p:txBody>
          <a:bodyPr wrap="square" lIns="22860" rIns="22860" tIns="16459" bIns="16459" anchor="t">
            <a:normAutofit/>
          </a:bodyPr>
          <a:lstStyle/>
          <a:p>
            <a:pPr algn="l"/>
            <a:r>
              <a:rPr sz="1220" b="1">
                <a:solidFill>
                  <a:srgbClr val="251F1E"/>
                </a:solidFill>
                <a:latin typeface="Microsoft YaHei"/>
                <a:ea typeface="Microsoft YaHei"/>
                <a:cs typeface="Microsoft YaHei"/>
              </a:rPr>
              <a:t>理论逻辑：什么是“指导地位”，为什么意识形态决定方向</a:t>
            </a:r>
          </a:p>
        </p:txBody>
      </p:sp>
      <p:sp>
        <p:nvSpPr>
          <p:cNvPr id="15" name="Rounded Rectangle 14"/>
          <p:cNvSpPr/>
          <p:nvPr/>
        </p:nvSpPr>
        <p:spPr>
          <a:xfrm>
            <a:off x="4453128" y="1901952"/>
            <a:ext cx="3246120" cy="1335024"/>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6" name="Oval 15"/>
          <p:cNvSpPr/>
          <p:nvPr/>
        </p:nvSpPr>
        <p:spPr>
          <a:xfrm>
            <a:off x="4654296" y="2103120"/>
            <a:ext cx="530352" cy="530352"/>
          </a:xfrm>
          <a:prstGeom prst="ellips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7" name="TextBox 16"/>
          <p:cNvSpPr txBox="1"/>
          <p:nvPr/>
        </p:nvSpPr>
        <p:spPr>
          <a:xfrm>
            <a:off x="4800600" y="2267712"/>
            <a:ext cx="228600" cy="109728"/>
          </a:xfrm>
          <a:prstGeom prst="rect">
            <a:avLst/>
          </a:prstGeom>
          <a:noFill/>
        </p:spPr>
        <p:txBody>
          <a:bodyPr wrap="square" lIns="22860" rIns="22860" tIns="16459" bIns="16459" anchor="ctr">
            <a:normAutofit/>
          </a:bodyPr>
          <a:lstStyle/>
          <a:p>
            <a:pPr algn="ctr"/>
            <a:r>
              <a:rPr sz="1100" b="1">
                <a:solidFill>
                  <a:srgbClr val="FFFDF8"/>
                </a:solidFill>
                <a:latin typeface="Microsoft YaHei"/>
                <a:ea typeface="Microsoft YaHei"/>
                <a:cs typeface="Microsoft YaHei"/>
              </a:rPr>
              <a:t>二</a:t>
            </a:r>
          </a:p>
        </p:txBody>
      </p:sp>
      <p:sp>
        <p:nvSpPr>
          <p:cNvPr id="18" name="TextBox 17"/>
          <p:cNvSpPr txBox="1"/>
          <p:nvPr/>
        </p:nvSpPr>
        <p:spPr>
          <a:xfrm>
            <a:off x="5349240" y="2121408"/>
            <a:ext cx="1993392" cy="804672"/>
          </a:xfrm>
          <a:prstGeom prst="rect">
            <a:avLst/>
          </a:prstGeom>
          <a:noFill/>
        </p:spPr>
        <p:txBody>
          <a:bodyPr wrap="square" lIns="22860" rIns="22860" tIns="16459" bIns="16459" anchor="ctr">
            <a:normAutofit/>
          </a:bodyPr>
          <a:lstStyle/>
          <a:p>
            <a:pPr algn="l"/>
            <a:r>
              <a:rPr sz="1220" b="1">
                <a:solidFill>
                  <a:srgbClr val="251F1E"/>
                </a:solidFill>
                <a:latin typeface="Microsoft YaHei"/>
                <a:ea typeface="Microsoft YaHei"/>
                <a:cs typeface="Microsoft YaHei"/>
              </a:rPr>
              <a:t>历史逻辑：从正反经验看思想统一与理论创新的重要性</a:t>
            </a:r>
          </a:p>
        </p:txBody>
      </p:sp>
      <p:sp>
        <p:nvSpPr>
          <p:cNvPr id="19" name="Rounded Rectangle 18"/>
          <p:cNvSpPr/>
          <p:nvPr/>
        </p:nvSpPr>
        <p:spPr>
          <a:xfrm>
            <a:off x="8156448" y="1901952"/>
            <a:ext cx="3246120" cy="1335024"/>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0" name="Oval 19"/>
          <p:cNvSpPr/>
          <p:nvPr/>
        </p:nvSpPr>
        <p:spPr>
          <a:xfrm>
            <a:off x="8357616" y="2103120"/>
            <a:ext cx="530352" cy="530352"/>
          </a:xfrm>
          <a:prstGeom prst="ellipse">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1" name="TextBox 20"/>
          <p:cNvSpPr txBox="1"/>
          <p:nvPr/>
        </p:nvSpPr>
        <p:spPr>
          <a:xfrm>
            <a:off x="8503920" y="2267712"/>
            <a:ext cx="228600" cy="109728"/>
          </a:xfrm>
          <a:prstGeom prst="rect">
            <a:avLst/>
          </a:prstGeom>
          <a:noFill/>
        </p:spPr>
        <p:txBody>
          <a:bodyPr wrap="square" lIns="22860" rIns="22860" tIns="16459" bIns="16459" anchor="ctr">
            <a:normAutofit/>
          </a:bodyPr>
          <a:lstStyle/>
          <a:p>
            <a:pPr algn="ctr"/>
            <a:r>
              <a:rPr sz="1100" b="1">
                <a:solidFill>
                  <a:srgbClr val="FFFDF8"/>
                </a:solidFill>
                <a:latin typeface="Microsoft YaHei"/>
                <a:ea typeface="Microsoft YaHei"/>
                <a:cs typeface="Microsoft YaHei"/>
              </a:rPr>
              <a:t>三</a:t>
            </a:r>
          </a:p>
        </p:txBody>
      </p:sp>
      <p:sp>
        <p:nvSpPr>
          <p:cNvPr id="22" name="TextBox 21"/>
          <p:cNvSpPr txBox="1"/>
          <p:nvPr/>
        </p:nvSpPr>
        <p:spPr>
          <a:xfrm>
            <a:off x="9052560" y="2121408"/>
            <a:ext cx="1993392" cy="804672"/>
          </a:xfrm>
          <a:prstGeom prst="rect">
            <a:avLst/>
          </a:prstGeom>
          <a:noFill/>
        </p:spPr>
        <p:txBody>
          <a:bodyPr wrap="square" lIns="22860" rIns="22860" tIns="16459" bIns="16459" anchor="t">
            <a:normAutofit/>
          </a:bodyPr>
          <a:lstStyle/>
          <a:p>
            <a:pPr algn="l"/>
            <a:r>
              <a:rPr sz="1220" b="1">
                <a:solidFill>
                  <a:srgbClr val="251F1E"/>
                </a:solidFill>
                <a:latin typeface="Microsoft YaHei"/>
                <a:ea typeface="Microsoft YaHei"/>
                <a:cs typeface="Microsoft YaHei"/>
              </a:rPr>
              <a:t>现实逻辑：网络空间、青年价值、教育课堂和舆论文化的新挑战</a:t>
            </a:r>
          </a:p>
        </p:txBody>
      </p:sp>
      <p:sp>
        <p:nvSpPr>
          <p:cNvPr id="23" name="Rounded Rectangle 22"/>
          <p:cNvSpPr/>
          <p:nvPr/>
        </p:nvSpPr>
        <p:spPr>
          <a:xfrm>
            <a:off x="749808" y="3776472"/>
            <a:ext cx="3246120" cy="1335024"/>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4" name="Oval 23"/>
          <p:cNvSpPr/>
          <p:nvPr/>
        </p:nvSpPr>
        <p:spPr>
          <a:xfrm>
            <a:off x="950976" y="3977639"/>
            <a:ext cx="530352" cy="530352"/>
          </a:xfrm>
          <a:prstGeom prst="ellipse">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5" name="TextBox 24"/>
          <p:cNvSpPr txBox="1"/>
          <p:nvPr/>
        </p:nvSpPr>
        <p:spPr>
          <a:xfrm>
            <a:off x="1097280" y="4142232"/>
            <a:ext cx="228600" cy="109728"/>
          </a:xfrm>
          <a:prstGeom prst="rect">
            <a:avLst/>
          </a:prstGeom>
          <a:noFill/>
        </p:spPr>
        <p:txBody>
          <a:bodyPr wrap="square" lIns="22860" rIns="22860" tIns="16459" bIns="16459" anchor="ctr">
            <a:normAutofit/>
          </a:bodyPr>
          <a:lstStyle/>
          <a:p>
            <a:pPr algn="ctr"/>
            <a:r>
              <a:rPr sz="1100" b="1">
                <a:solidFill>
                  <a:srgbClr val="FFFDF8"/>
                </a:solidFill>
                <a:latin typeface="Microsoft YaHei"/>
                <a:ea typeface="Microsoft YaHei"/>
                <a:cs typeface="Microsoft YaHei"/>
              </a:rPr>
              <a:t>四</a:t>
            </a:r>
          </a:p>
        </p:txBody>
      </p:sp>
      <p:sp>
        <p:nvSpPr>
          <p:cNvPr id="26" name="TextBox 25"/>
          <p:cNvSpPr txBox="1"/>
          <p:nvPr/>
        </p:nvSpPr>
        <p:spPr>
          <a:xfrm>
            <a:off x="1645919" y="3995928"/>
            <a:ext cx="1993392" cy="804672"/>
          </a:xfrm>
          <a:prstGeom prst="rect">
            <a:avLst/>
          </a:prstGeom>
          <a:noFill/>
        </p:spPr>
        <p:txBody>
          <a:bodyPr wrap="square" lIns="22860" rIns="22860" tIns="16459" bIns="16459" anchor="t">
            <a:normAutofit/>
          </a:bodyPr>
          <a:lstStyle/>
          <a:p>
            <a:pPr algn="l"/>
            <a:r>
              <a:rPr sz="1220" b="1">
                <a:solidFill>
                  <a:srgbClr val="251F1E"/>
                </a:solidFill>
                <a:latin typeface="Microsoft YaHei"/>
                <a:ea typeface="Microsoft YaHei"/>
                <a:cs typeface="Microsoft YaHei"/>
              </a:rPr>
              <a:t>制度与实践：怎样通过教育、新闻舆论、学术文化等阵地落实</a:t>
            </a:r>
          </a:p>
        </p:txBody>
      </p:sp>
      <p:sp>
        <p:nvSpPr>
          <p:cNvPr id="27" name="Rounded Rectangle 26"/>
          <p:cNvSpPr/>
          <p:nvPr/>
        </p:nvSpPr>
        <p:spPr>
          <a:xfrm>
            <a:off x="4453128" y="3776472"/>
            <a:ext cx="3246120" cy="1335024"/>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8" name="Oval 27"/>
          <p:cNvSpPr/>
          <p:nvPr/>
        </p:nvSpPr>
        <p:spPr>
          <a:xfrm>
            <a:off x="4654296" y="3977639"/>
            <a:ext cx="530352" cy="530352"/>
          </a:xfrm>
          <a:prstGeom prst="ellipse">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9" name="TextBox 28"/>
          <p:cNvSpPr txBox="1"/>
          <p:nvPr/>
        </p:nvSpPr>
        <p:spPr>
          <a:xfrm>
            <a:off x="4800600" y="4142232"/>
            <a:ext cx="228600" cy="109728"/>
          </a:xfrm>
          <a:prstGeom prst="rect">
            <a:avLst/>
          </a:prstGeom>
          <a:noFill/>
        </p:spPr>
        <p:txBody>
          <a:bodyPr wrap="square" lIns="22860" rIns="22860" tIns="16459" bIns="16459" anchor="ctr">
            <a:normAutofit/>
          </a:bodyPr>
          <a:lstStyle/>
          <a:p>
            <a:pPr algn="ctr"/>
            <a:r>
              <a:rPr sz="1100" b="1">
                <a:solidFill>
                  <a:srgbClr val="FFFDF8"/>
                </a:solidFill>
                <a:latin typeface="Microsoft YaHei"/>
                <a:ea typeface="Microsoft YaHei"/>
                <a:cs typeface="Microsoft YaHei"/>
              </a:rPr>
              <a:t>五</a:t>
            </a:r>
          </a:p>
        </p:txBody>
      </p:sp>
      <p:sp>
        <p:nvSpPr>
          <p:cNvPr id="30" name="TextBox 29"/>
          <p:cNvSpPr txBox="1"/>
          <p:nvPr/>
        </p:nvSpPr>
        <p:spPr>
          <a:xfrm>
            <a:off x="5349240" y="3995928"/>
            <a:ext cx="1993392" cy="804672"/>
          </a:xfrm>
          <a:prstGeom prst="rect">
            <a:avLst/>
          </a:prstGeom>
          <a:noFill/>
        </p:spPr>
        <p:txBody>
          <a:bodyPr wrap="square" lIns="22860" rIns="22860" tIns="16459" bIns="16459" anchor="t">
            <a:normAutofit/>
          </a:bodyPr>
          <a:lstStyle/>
          <a:p>
            <a:pPr algn="l"/>
            <a:r>
              <a:rPr sz="1220" b="1">
                <a:solidFill>
                  <a:srgbClr val="251F1E"/>
                </a:solidFill>
                <a:latin typeface="Microsoft YaHei"/>
                <a:ea typeface="Microsoft YaHei"/>
                <a:cs typeface="Microsoft YaHei"/>
              </a:rPr>
              <a:t>视频案例：展示“没有共同思想基础”与“坚持正确方向”的差异</a:t>
            </a:r>
          </a:p>
        </p:txBody>
      </p:sp>
      <p:sp>
        <p:nvSpPr>
          <p:cNvPr id="31" name="Rounded Rectangle 30"/>
          <p:cNvSpPr/>
          <p:nvPr/>
        </p:nvSpPr>
        <p:spPr>
          <a:xfrm>
            <a:off x="8156448" y="3776472"/>
            <a:ext cx="3246120" cy="1335024"/>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2" name="Oval 31"/>
          <p:cNvSpPr/>
          <p:nvPr/>
        </p:nvSpPr>
        <p:spPr>
          <a:xfrm>
            <a:off x="8357616" y="3977639"/>
            <a:ext cx="530352" cy="530352"/>
          </a:xfrm>
          <a:prstGeom prst="ellips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33" name="TextBox 32"/>
          <p:cNvSpPr txBox="1"/>
          <p:nvPr/>
        </p:nvSpPr>
        <p:spPr>
          <a:xfrm>
            <a:off x="8503920" y="4142232"/>
            <a:ext cx="228600" cy="109728"/>
          </a:xfrm>
          <a:prstGeom prst="rect">
            <a:avLst/>
          </a:prstGeom>
          <a:noFill/>
        </p:spPr>
        <p:txBody>
          <a:bodyPr wrap="square" lIns="22860" rIns="22860" tIns="16459" bIns="16459" anchor="ctr">
            <a:normAutofit/>
          </a:bodyPr>
          <a:lstStyle/>
          <a:p>
            <a:pPr algn="ctr"/>
            <a:r>
              <a:rPr sz="1100" b="1">
                <a:solidFill>
                  <a:srgbClr val="FFFDF8"/>
                </a:solidFill>
                <a:latin typeface="Microsoft YaHei"/>
                <a:ea typeface="Microsoft YaHei"/>
                <a:cs typeface="Microsoft YaHei"/>
              </a:rPr>
              <a:t>六</a:t>
            </a:r>
          </a:p>
        </p:txBody>
      </p:sp>
      <p:sp>
        <p:nvSpPr>
          <p:cNvPr id="34" name="TextBox 33"/>
          <p:cNvSpPr txBox="1"/>
          <p:nvPr/>
        </p:nvSpPr>
        <p:spPr>
          <a:xfrm>
            <a:off x="9052560" y="3995928"/>
            <a:ext cx="1993392" cy="804672"/>
          </a:xfrm>
          <a:prstGeom prst="rect">
            <a:avLst/>
          </a:prstGeom>
          <a:noFill/>
        </p:spPr>
        <p:txBody>
          <a:bodyPr wrap="square" lIns="22860" rIns="22860" tIns="16459" bIns="16459" anchor="ctr">
            <a:normAutofit/>
          </a:bodyPr>
          <a:lstStyle/>
          <a:p>
            <a:pPr algn="l"/>
            <a:r>
              <a:rPr sz="1220" b="1">
                <a:solidFill>
                  <a:srgbClr val="251F1E"/>
                </a:solidFill>
                <a:latin typeface="Microsoft YaHei"/>
                <a:ea typeface="Microsoft YaHei"/>
                <a:cs typeface="Microsoft YaHei"/>
              </a:rPr>
              <a:t>结语：坚持不是僵化封闭，而是在守正创新中凝聚力量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理论逻辑</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3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意识形态决定方向</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Oval 10"/>
          <p:cNvSpPr/>
          <p:nvPr/>
        </p:nvSpPr>
        <p:spPr>
          <a:xfrm>
            <a:off x="841248" y="1874519"/>
            <a:ext cx="2331720" cy="2331720"/>
          </a:xfrm>
          <a:prstGeom prst="ellipse">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TextBox 11"/>
          <p:cNvSpPr txBox="1"/>
          <p:nvPr/>
        </p:nvSpPr>
        <p:spPr>
          <a:xfrm>
            <a:off x="1243584" y="2542032"/>
            <a:ext cx="1536192" cy="402336"/>
          </a:xfrm>
          <a:prstGeom prst="rect">
            <a:avLst/>
          </a:prstGeom>
          <a:noFill/>
        </p:spPr>
        <p:txBody>
          <a:bodyPr wrap="square" lIns="22860" rIns="22860" tIns="16459" bIns="16459" anchor="ctr">
            <a:normAutofit/>
          </a:bodyPr>
          <a:lstStyle/>
          <a:p>
            <a:pPr algn="ctr"/>
            <a:r>
              <a:rPr sz="3000" b="1">
                <a:solidFill>
                  <a:srgbClr val="FFFDF8"/>
                </a:solidFill>
                <a:latin typeface="Microsoft YaHei"/>
                <a:ea typeface="Microsoft YaHei"/>
                <a:cs typeface="Microsoft YaHei"/>
              </a:rPr>
              <a:t>方向</a:t>
            </a:r>
          </a:p>
        </p:txBody>
      </p:sp>
      <p:sp>
        <p:nvSpPr>
          <p:cNvPr id="13" name="TextBox 12"/>
          <p:cNvSpPr txBox="1"/>
          <p:nvPr/>
        </p:nvSpPr>
        <p:spPr>
          <a:xfrm>
            <a:off x="1353312" y="2999232"/>
            <a:ext cx="1298448" cy="292608"/>
          </a:xfrm>
          <a:prstGeom prst="rect">
            <a:avLst/>
          </a:prstGeom>
          <a:noFill/>
        </p:spPr>
        <p:txBody>
          <a:bodyPr wrap="square" lIns="22860" rIns="22860" tIns="16459" bIns="16459" anchor="ctr">
            <a:normAutofit/>
          </a:bodyPr>
          <a:lstStyle/>
          <a:p>
            <a:pPr algn="ctr"/>
            <a:r>
              <a:rPr sz="1350" b="1">
                <a:solidFill>
                  <a:srgbClr val="EFE1BC"/>
                </a:solidFill>
                <a:latin typeface="Microsoft YaHei"/>
                <a:ea typeface="Microsoft YaHei"/>
                <a:cs typeface="Microsoft YaHei"/>
              </a:rPr>
              <a:t>价值坐标</a:t>
            </a:r>
          </a:p>
        </p:txBody>
      </p:sp>
      <p:sp>
        <p:nvSpPr>
          <p:cNvPr id="14" name="Rounded Rectangle 13"/>
          <p:cNvSpPr/>
          <p:nvPr/>
        </p:nvSpPr>
        <p:spPr>
          <a:xfrm>
            <a:off x="3520440" y="1755648"/>
            <a:ext cx="7498079" cy="1024128"/>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5" name="TextBox 14"/>
          <p:cNvSpPr txBox="1"/>
          <p:nvPr/>
        </p:nvSpPr>
        <p:spPr>
          <a:xfrm>
            <a:off x="3822191" y="1975104"/>
            <a:ext cx="6903720" cy="347472"/>
          </a:xfrm>
          <a:prstGeom prst="rect">
            <a:avLst/>
          </a:prstGeom>
          <a:noFill/>
        </p:spPr>
        <p:txBody>
          <a:bodyPr wrap="square" lIns="22860" rIns="22860" tIns="16459" bIns="16459" anchor="t">
            <a:normAutofit/>
          </a:bodyPr>
          <a:lstStyle/>
          <a:p>
            <a:pPr algn="l"/>
            <a:r>
              <a:rPr sz="1800" b="1">
                <a:solidFill>
                  <a:srgbClr val="681412"/>
                </a:solidFill>
                <a:latin typeface="Microsoft YaHei"/>
                <a:ea typeface="Microsoft YaHei"/>
                <a:cs typeface="Microsoft YaHei"/>
              </a:rPr>
              <a:t>意识形态是国家和社会判断是非、凝聚共识、组织行动的价值坐标。</a:t>
            </a:r>
          </a:p>
        </p:txBody>
      </p:sp>
      <p:sp>
        <p:nvSpPr>
          <p:cNvPr id="16" name="Rounded Rectangle 15"/>
          <p:cNvSpPr/>
          <p:nvPr/>
        </p:nvSpPr>
        <p:spPr>
          <a:xfrm>
            <a:off x="3520440" y="2999232"/>
            <a:ext cx="3611880" cy="2084831"/>
          </a:xfrm>
          <a:prstGeom prst="roundRect">
            <a:avLst/>
          </a:prstGeom>
          <a:solidFill>
            <a:srgbClr val="F0D8D4"/>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7" name="TextBox 16"/>
          <p:cNvSpPr txBox="1"/>
          <p:nvPr/>
        </p:nvSpPr>
        <p:spPr>
          <a:xfrm>
            <a:off x="3730752" y="3200400"/>
            <a:ext cx="1371600" cy="292608"/>
          </a:xfrm>
          <a:prstGeom prst="rect">
            <a:avLst/>
          </a:prstGeom>
          <a:noFill/>
        </p:spPr>
        <p:txBody>
          <a:bodyPr wrap="square" lIns="22860" rIns="22860" tIns="16459" bIns="16459" anchor="ctr">
            <a:normAutofit/>
          </a:bodyPr>
          <a:lstStyle/>
          <a:p>
            <a:pPr algn="ctr"/>
            <a:r>
              <a:rPr sz="1250" b="1">
                <a:solidFill>
                  <a:srgbClr val="A52622"/>
                </a:solidFill>
                <a:latin typeface="Microsoft YaHei"/>
                <a:ea typeface="Microsoft YaHei"/>
                <a:cs typeface="Microsoft YaHei"/>
              </a:rPr>
              <a:t>为什么重要</a:t>
            </a:r>
          </a:p>
        </p:txBody>
      </p:sp>
      <p:sp>
        <p:nvSpPr>
          <p:cNvPr id="18" name="TextBox 17"/>
          <p:cNvSpPr txBox="1"/>
          <p:nvPr/>
        </p:nvSpPr>
        <p:spPr>
          <a:xfrm>
            <a:off x="3675887" y="3547872"/>
            <a:ext cx="3154680" cy="1060704"/>
          </a:xfrm>
          <a:prstGeom prst="rect">
            <a:avLst/>
          </a:prstGeom>
          <a:noFill/>
        </p:spPr>
        <p:txBody>
          <a:bodyPr wrap="square" lIns="22860" rIns="22860" tIns="16459" bIns="16459" anchor="t">
            <a:normAutofit/>
          </a:bodyPr>
          <a:lstStyle/>
          <a:p>
            <a:pPr algn="l">
              <a:spcAft>
                <a:spcPts val="400"/>
              </a:spcAft>
            </a:pPr>
            <a:r>
              <a:rPr sz="1019">
                <a:solidFill>
                  <a:srgbClr val="251F1E"/>
                </a:solidFill>
                <a:latin typeface="Microsoft YaHei"/>
                <a:ea typeface="Microsoft YaHei"/>
                <a:cs typeface="Microsoft YaHei"/>
              </a:rPr>
              <a:t>• 习近平新时代中国特色社会主义思想强调坚持人民至上、坚定文化自信、建设具有强大凝聚力和引领力的社会主义意识形态。没有正确思想引领，社会讨论容易被情绪、谣言和片面观点牵引。</a:t>
            </a:r>
          </a:p>
          <a:p>
            <a:pPr algn="l">
              <a:spcAft>
                <a:spcPts val="400"/>
              </a:spcAft>
            </a:pPr>
            <a:r>
              <a:rPr sz="1019">
                <a:solidFill>
                  <a:srgbClr val="251F1E"/>
                </a:solidFill>
                <a:latin typeface="Microsoft YaHei"/>
                <a:ea typeface="Microsoft YaHei"/>
                <a:cs typeface="Microsoft YaHei"/>
              </a:rPr>
              <a:t>• 现实意义：意识形态工作不是抽象口号，而是关系国家方向、民族精神、青年价值和社会稳定的基础性工作。</a:t>
            </a:r>
          </a:p>
        </p:txBody>
      </p:sp>
      <p:sp>
        <p:nvSpPr>
          <p:cNvPr id="19" name="Rounded Rectangle 18"/>
          <p:cNvSpPr/>
          <p:nvPr/>
        </p:nvSpPr>
        <p:spPr>
          <a:xfrm>
            <a:off x="7424927" y="2999232"/>
            <a:ext cx="3593592" cy="2084831"/>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0" name="TextBox 19"/>
          <p:cNvSpPr txBox="1"/>
          <p:nvPr/>
        </p:nvSpPr>
        <p:spPr>
          <a:xfrm>
            <a:off x="7644383" y="3200400"/>
            <a:ext cx="1188720" cy="292608"/>
          </a:xfrm>
          <a:prstGeom prst="rect">
            <a:avLst/>
          </a:prstGeom>
          <a:noFill/>
        </p:spPr>
        <p:txBody>
          <a:bodyPr wrap="square" lIns="22860" rIns="22860" tIns="16459" bIns="16459" anchor="ctr">
            <a:normAutofit/>
          </a:bodyPr>
          <a:lstStyle/>
          <a:p>
            <a:pPr algn="ctr"/>
            <a:r>
              <a:rPr sz="1250" b="1">
                <a:solidFill>
                  <a:srgbClr val="A52622"/>
                </a:solidFill>
                <a:latin typeface="Microsoft YaHei"/>
                <a:ea typeface="Microsoft YaHei"/>
                <a:cs typeface="Microsoft YaHei"/>
              </a:rPr>
              <a:t>怎么判断</a:t>
            </a:r>
          </a:p>
        </p:txBody>
      </p:sp>
      <p:sp>
        <p:nvSpPr>
          <p:cNvPr id="21" name="TextBox 20"/>
          <p:cNvSpPr txBox="1"/>
          <p:nvPr/>
        </p:nvSpPr>
        <p:spPr>
          <a:xfrm>
            <a:off x="7571231" y="3547872"/>
            <a:ext cx="3127248" cy="1060704"/>
          </a:xfrm>
          <a:prstGeom prst="rect">
            <a:avLst/>
          </a:prstGeom>
          <a:noFill/>
        </p:spPr>
        <p:txBody>
          <a:bodyPr wrap="square" lIns="22860" rIns="22860" tIns="16459" bIns="16459" anchor="t">
            <a:normAutofit/>
          </a:bodyPr>
          <a:lstStyle/>
          <a:p>
            <a:pPr algn="l">
              <a:spcAft>
                <a:spcPts val="400"/>
              </a:spcAft>
            </a:pPr>
            <a:r>
              <a:rPr sz="1260">
                <a:solidFill>
                  <a:srgbClr val="251F1E"/>
                </a:solidFill>
                <a:latin typeface="Microsoft YaHei"/>
                <a:ea typeface="Microsoft YaHei"/>
                <a:cs typeface="Microsoft YaHei"/>
              </a:rPr>
              <a:t>• 面对网络热点，不能只看评论热度，还要看事实来源、人民立场、历史背景和社会影响。</a:t>
            </a:r>
          </a:p>
        </p:txBody>
      </p:sp>
      <p:sp>
        <p:nvSpPr>
          <p:cNvPr id="22" name="Rectangle 21"/>
          <p:cNvSpPr/>
          <p:nvPr/>
        </p:nvSpPr>
        <p:spPr>
          <a:xfrm>
            <a:off x="1005840" y="5230368"/>
            <a:ext cx="9875520"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3" name="TextBox 22"/>
          <p:cNvSpPr txBox="1"/>
          <p:nvPr/>
        </p:nvSpPr>
        <p:spPr>
          <a:xfrm>
            <a:off x="1042415" y="5431536"/>
            <a:ext cx="9601200" cy="402336"/>
          </a:xfrm>
          <a:prstGeom prst="rect">
            <a:avLst/>
          </a:prstGeom>
          <a:noFill/>
        </p:spPr>
        <p:txBody>
          <a:bodyPr wrap="square" lIns="22860" rIns="22860" tIns="16459" bIns="16459" anchor="t">
            <a:normAutofit/>
          </a:bodyPr>
          <a:lstStyle/>
          <a:p>
            <a:pPr algn="l"/>
            <a:r>
              <a:rPr sz="1300" b="0">
                <a:solidFill>
                  <a:srgbClr val="6D625C"/>
                </a:solidFill>
                <a:latin typeface="Microsoft YaHei"/>
                <a:ea typeface="Microsoft YaHei"/>
                <a:cs typeface="Microsoft YaHei"/>
              </a:rPr>
              <a:t>这一页要让听众先抓住：意识形态不是远处的概念，而是每天影响判断的坐标。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理论逻辑</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4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为什么是“根本制度”</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Rounded Rectangle 10"/>
          <p:cNvSpPr/>
          <p:nvPr/>
        </p:nvSpPr>
        <p:spPr>
          <a:xfrm>
            <a:off x="822960" y="1783080"/>
            <a:ext cx="3657600" cy="1097280"/>
          </a:xfrm>
          <a:prstGeom prst="round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TextBox 11"/>
          <p:cNvSpPr txBox="1"/>
          <p:nvPr/>
        </p:nvSpPr>
        <p:spPr>
          <a:xfrm>
            <a:off x="1353312" y="2029968"/>
            <a:ext cx="2596896" cy="347472"/>
          </a:xfrm>
          <a:prstGeom prst="rect">
            <a:avLst/>
          </a:prstGeom>
          <a:noFill/>
        </p:spPr>
        <p:txBody>
          <a:bodyPr wrap="square" lIns="22860" rIns="22860" tIns="16459" bIns="16459" anchor="ctr">
            <a:normAutofit/>
          </a:bodyPr>
          <a:lstStyle/>
          <a:p>
            <a:pPr algn="ctr"/>
            <a:r>
              <a:rPr sz="1400" b="1">
                <a:solidFill>
                  <a:srgbClr val="FFFDF8"/>
                </a:solidFill>
                <a:latin typeface="Microsoft YaHei"/>
                <a:ea typeface="Microsoft YaHei"/>
                <a:cs typeface="Microsoft YaHei"/>
              </a:rPr>
              <a:t>根本制度</a:t>
            </a:r>
          </a:p>
        </p:txBody>
      </p:sp>
      <p:sp>
        <p:nvSpPr>
          <p:cNvPr id="13" name="TextBox 12"/>
          <p:cNvSpPr txBox="1"/>
          <p:nvPr/>
        </p:nvSpPr>
        <p:spPr>
          <a:xfrm>
            <a:off x="1170432" y="2450592"/>
            <a:ext cx="2980944" cy="201168"/>
          </a:xfrm>
          <a:prstGeom prst="rect">
            <a:avLst/>
          </a:prstGeom>
          <a:noFill/>
        </p:spPr>
        <p:txBody>
          <a:bodyPr wrap="square" lIns="22860" rIns="22860" tIns="16459" bIns="16459" anchor="ctr">
            <a:normAutofit/>
          </a:bodyPr>
          <a:lstStyle/>
          <a:p>
            <a:pPr algn="ctr"/>
            <a:r>
              <a:rPr sz="1150" b="1">
                <a:solidFill>
                  <a:srgbClr val="EFE1BC"/>
                </a:solidFill>
                <a:latin typeface="Microsoft YaHei"/>
                <a:ea typeface="Microsoft YaHei"/>
                <a:cs typeface="Microsoft YaHei"/>
              </a:rPr>
              <a:t>旗帜 · 道路 · 方向 · 文化安全</a:t>
            </a:r>
          </a:p>
        </p:txBody>
      </p:sp>
      <p:cxnSp>
        <p:nvCxnSpPr>
          <p:cNvPr id="14" name="Connector 13"/>
          <p:cNvCxnSpPr/>
          <p:nvPr/>
        </p:nvCxnSpPr>
        <p:spPr>
          <a:xfrm>
            <a:off x="2651760" y="2880360"/>
            <a:ext cx="0" cy="429768"/>
          </a:xfrm>
          <a:prstGeom prst="line">
            <a:avLst/>
          </a:prstGeom>
          <a:ln w="25400">
            <a:solidFill>
              <a:srgbClr val="C99A3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075688" y="3108960"/>
            <a:ext cx="1152144" cy="402336"/>
          </a:xfrm>
          <a:prstGeom prst="roundRect">
            <a:avLst/>
          </a:prstGeom>
          <a:solidFill>
            <a:srgbClr val="FFFDF8"/>
          </a:solidFill>
          <a:ln w="12700">
            <a:solidFill>
              <a:srgbClr val="C99A3F"/>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6" name="TextBox 15"/>
          <p:cNvSpPr txBox="1"/>
          <p:nvPr/>
        </p:nvSpPr>
        <p:spPr>
          <a:xfrm>
            <a:off x="2176272" y="3236976"/>
            <a:ext cx="950976" cy="292608"/>
          </a:xfrm>
          <a:prstGeom prst="rect">
            <a:avLst/>
          </a:prstGeom>
          <a:noFill/>
        </p:spPr>
        <p:txBody>
          <a:bodyPr wrap="square" lIns="22860" rIns="22860" tIns="16459" bIns="16459" anchor="ctr">
            <a:normAutofit/>
          </a:bodyPr>
          <a:lstStyle/>
          <a:p>
            <a:pPr algn="ctr"/>
            <a:r>
              <a:rPr sz="950" b="1">
                <a:solidFill>
                  <a:srgbClr val="681412"/>
                </a:solidFill>
                <a:latin typeface="Microsoft YaHei"/>
                <a:ea typeface="Microsoft YaHei"/>
                <a:cs typeface="Microsoft YaHei"/>
              </a:rPr>
              <a:t>理论学习</a:t>
            </a:r>
          </a:p>
        </p:txBody>
      </p:sp>
      <p:cxnSp>
        <p:nvCxnSpPr>
          <p:cNvPr id="17" name="Connector 16"/>
          <p:cNvCxnSpPr/>
          <p:nvPr/>
        </p:nvCxnSpPr>
        <p:spPr>
          <a:xfrm flipH="1">
            <a:off x="1188720" y="2880360"/>
            <a:ext cx="1463040" cy="1463040"/>
          </a:xfrm>
          <a:prstGeom prst="line">
            <a:avLst/>
          </a:prstGeom>
          <a:ln w="25400">
            <a:solidFill>
              <a:srgbClr val="C99A3F"/>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2648" y="4142232"/>
            <a:ext cx="1152144" cy="402336"/>
          </a:xfrm>
          <a:prstGeom prst="roundRect">
            <a:avLst/>
          </a:prstGeom>
          <a:solidFill>
            <a:srgbClr val="FFFDF8"/>
          </a:solidFill>
          <a:ln w="12700">
            <a:solidFill>
              <a:srgbClr val="C99A3F"/>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9" name="TextBox 18"/>
          <p:cNvSpPr txBox="1"/>
          <p:nvPr/>
        </p:nvSpPr>
        <p:spPr>
          <a:xfrm>
            <a:off x="713232" y="4270248"/>
            <a:ext cx="950976" cy="292608"/>
          </a:xfrm>
          <a:prstGeom prst="rect">
            <a:avLst/>
          </a:prstGeom>
          <a:noFill/>
        </p:spPr>
        <p:txBody>
          <a:bodyPr wrap="square" lIns="22860" rIns="22860" tIns="16459" bIns="16459" anchor="ctr">
            <a:normAutofit/>
          </a:bodyPr>
          <a:lstStyle/>
          <a:p>
            <a:pPr algn="ctr"/>
            <a:r>
              <a:rPr sz="950" b="1">
                <a:solidFill>
                  <a:srgbClr val="681412"/>
                </a:solidFill>
                <a:latin typeface="Microsoft YaHei"/>
                <a:ea typeface="Microsoft YaHei"/>
                <a:cs typeface="Microsoft YaHei"/>
              </a:rPr>
              <a:t>课程教材</a:t>
            </a:r>
          </a:p>
        </p:txBody>
      </p:sp>
      <p:cxnSp>
        <p:nvCxnSpPr>
          <p:cNvPr id="20" name="Connector 19"/>
          <p:cNvCxnSpPr/>
          <p:nvPr/>
        </p:nvCxnSpPr>
        <p:spPr>
          <a:xfrm>
            <a:off x="2651760" y="2880360"/>
            <a:ext cx="137160" cy="2039112"/>
          </a:xfrm>
          <a:prstGeom prst="line">
            <a:avLst/>
          </a:prstGeom>
          <a:ln w="25400">
            <a:solidFill>
              <a:srgbClr val="C99A3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212848" y="4718304"/>
            <a:ext cx="1152144" cy="402336"/>
          </a:xfrm>
          <a:prstGeom prst="roundRect">
            <a:avLst/>
          </a:prstGeom>
          <a:solidFill>
            <a:srgbClr val="FFFDF8"/>
          </a:solidFill>
          <a:ln w="12700">
            <a:solidFill>
              <a:srgbClr val="C99A3F"/>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2" name="TextBox 21"/>
          <p:cNvSpPr txBox="1"/>
          <p:nvPr/>
        </p:nvSpPr>
        <p:spPr>
          <a:xfrm>
            <a:off x="2313432" y="4846320"/>
            <a:ext cx="950976" cy="292608"/>
          </a:xfrm>
          <a:prstGeom prst="rect">
            <a:avLst/>
          </a:prstGeom>
          <a:noFill/>
        </p:spPr>
        <p:txBody>
          <a:bodyPr wrap="square" lIns="22860" rIns="22860" tIns="16459" bIns="16459" anchor="ctr">
            <a:normAutofit/>
          </a:bodyPr>
          <a:lstStyle/>
          <a:p>
            <a:pPr algn="ctr"/>
            <a:r>
              <a:rPr sz="950" b="1">
                <a:solidFill>
                  <a:srgbClr val="681412"/>
                </a:solidFill>
                <a:latin typeface="Microsoft YaHei"/>
                <a:ea typeface="Microsoft YaHei"/>
                <a:cs typeface="Microsoft YaHei"/>
              </a:rPr>
              <a:t>新闻舆论</a:t>
            </a:r>
          </a:p>
        </p:txBody>
      </p:sp>
      <p:cxnSp>
        <p:nvCxnSpPr>
          <p:cNvPr id="23" name="Connector 22"/>
          <p:cNvCxnSpPr/>
          <p:nvPr/>
        </p:nvCxnSpPr>
        <p:spPr>
          <a:xfrm>
            <a:off x="2651760" y="2880360"/>
            <a:ext cx="1691640" cy="1463040"/>
          </a:xfrm>
          <a:prstGeom prst="line">
            <a:avLst/>
          </a:prstGeom>
          <a:ln w="25400">
            <a:solidFill>
              <a:srgbClr val="C99A3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767328" y="4142232"/>
            <a:ext cx="1152144" cy="402336"/>
          </a:xfrm>
          <a:prstGeom prst="roundRect">
            <a:avLst/>
          </a:prstGeom>
          <a:solidFill>
            <a:srgbClr val="FFFDF8"/>
          </a:solidFill>
          <a:ln w="12700">
            <a:solidFill>
              <a:srgbClr val="C99A3F"/>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5" name="TextBox 24"/>
          <p:cNvSpPr txBox="1"/>
          <p:nvPr/>
        </p:nvSpPr>
        <p:spPr>
          <a:xfrm>
            <a:off x="3867912" y="4270248"/>
            <a:ext cx="950976" cy="292608"/>
          </a:xfrm>
          <a:prstGeom prst="rect">
            <a:avLst/>
          </a:prstGeom>
          <a:noFill/>
        </p:spPr>
        <p:txBody>
          <a:bodyPr wrap="square" lIns="22860" rIns="22860" tIns="16459" bIns="16459" anchor="ctr">
            <a:normAutofit/>
          </a:bodyPr>
          <a:lstStyle/>
          <a:p>
            <a:pPr algn="ctr"/>
            <a:r>
              <a:rPr sz="950" b="1">
                <a:solidFill>
                  <a:srgbClr val="681412"/>
                </a:solidFill>
                <a:latin typeface="Microsoft YaHei"/>
                <a:ea typeface="Microsoft YaHei"/>
                <a:cs typeface="Microsoft YaHei"/>
              </a:rPr>
              <a:t>网络文化</a:t>
            </a:r>
          </a:p>
        </p:txBody>
      </p:sp>
      <p:sp>
        <p:nvSpPr>
          <p:cNvPr id="26" name="Rounded Rectangle 25"/>
          <p:cNvSpPr/>
          <p:nvPr/>
        </p:nvSpPr>
        <p:spPr>
          <a:xfrm>
            <a:off x="5074920" y="1783080"/>
            <a:ext cx="5989320" cy="1225296"/>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7" name="TextBox 26"/>
          <p:cNvSpPr txBox="1"/>
          <p:nvPr/>
        </p:nvSpPr>
        <p:spPr>
          <a:xfrm>
            <a:off x="5349240" y="2048256"/>
            <a:ext cx="5394960" cy="347472"/>
          </a:xfrm>
          <a:prstGeom prst="rect">
            <a:avLst/>
          </a:prstGeom>
          <a:noFill/>
        </p:spPr>
        <p:txBody>
          <a:bodyPr wrap="square" lIns="22860" rIns="22860" tIns="16459" bIns="16459" anchor="t">
            <a:normAutofit/>
          </a:bodyPr>
          <a:lstStyle/>
          <a:p>
            <a:pPr algn="l"/>
            <a:r>
              <a:rPr sz="1050" b="1">
                <a:solidFill>
                  <a:srgbClr val="681412"/>
                </a:solidFill>
                <a:latin typeface="Microsoft YaHei"/>
                <a:ea typeface="Microsoft YaHei"/>
                <a:cs typeface="Microsoft YaHei"/>
              </a:rPr>
              <a:t>党的二十大报告明确提出，坚持马克思主义在意识形态领域指导地位的根本制度。</a:t>
            </a:r>
          </a:p>
        </p:txBody>
      </p:sp>
      <p:sp>
        <p:nvSpPr>
          <p:cNvPr id="28" name="Rounded Rectangle 27"/>
          <p:cNvSpPr/>
          <p:nvPr/>
        </p:nvSpPr>
        <p:spPr>
          <a:xfrm>
            <a:off x="5074920" y="3273552"/>
            <a:ext cx="5989320" cy="2331720"/>
          </a:xfrm>
          <a:prstGeom prst="roundRect">
            <a:avLst/>
          </a:prstGeom>
          <a:solidFill>
            <a:srgbClr val="F0D8D4"/>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9" name="TextBox 28"/>
          <p:cNvSpPr txBox="1"/>
          <p:nvPr/>
        </p:nvSpPr>
        <p:spPr>
          <a:xfrm>
            <a:off x="5340096" y="3493008"/>
            <a:ext cx="1188720" cy="292608"/>
          </a:xfrm>
          <a:prstGeom prst="rect">
            <a:avLst/>
          </a:prstGeom>
          <a:noFill/>
        </p:spPr>
        <p:txBody>
          <a:bodyPr wrap="square" lIns="22860" rIns="22860" tIns="16459" bIns="16459" anchor="ctr">
            <a:normAutofit/>
          </a:bodyPr>
          <a:lstStyle/>
          <a:p>
            <a:pPr algn="ctr"/>
            <a:r>
              <a:rPr sz="1200" b="1">
                <a:solidFill>
                  <a:srgbClr val="A52622"/>
                </a:solidFill>
                <a:latin typeface="Microsoft YaHei"/>
                <a:ea typeface="Microsoft YaHei"/>
                <a:cs typeface="Microsoft YaHei"/>
              </a:rPr>
              <a:t>落实到哪里</a:t>
            </a:r>
          </a:p>
        </p:txBody>
      </p:sp>
      <p:sp>
        <p:nvSpPr>
          <p:cNvPr id="30" name="TextBox 29"/>
          <p:cNvSpPr txBox="1"/>
          <p:nvPr/>
        </p:nvSpPr>
        <p:spPr>
          <a:xfrm>
            <a:off x="5285232" y="3822191"/>
            <a:ext cx="5303520" cy="1353312"/>
          </a:xfrm>
          <a:prstGeom prst="rect">
            <a:avLst/>
          </a:prstGeom>
          <a:noFill/>
        </p:spPr>
        <p:txBody>
          <a:bodyPr wrap="square" lIns="22860" rIns="22860" tIns="16459" bIns="16459" anchor="t">
            <a:normAutofit/>
          </a:bodyPr>
          <a:lstStyle/>
          <a:p>
            <a:pPr algn="l">
              <a:spcAft>
                <a:spcPts val="400"/>
              </a:spcAft>
            </a:pPr>
            <a:r>
              <a:rPr sz="1250">
                <a:solidFill>
                  <a:srgbClr val="251F1E"/>
                </a:solidFill>
                <a:latin typeface="Microsoft YaHei"/>
                <a:ea typeface="Microsoft YaHei"/>
                <a:cs typeface="Microsoft YaHei"/>
              </a:rPr>
              <a:t>• “根本制度”意味着它不是临时倡议，而是关系旗帜、道路、方向和国家文化安全的长期制度安排。</a:t>
            </a:r>
          </a:p>
          <a:p>
            <a:pPr algn="l">
              <a:spcAft>
                <a:spcPts val="400"/>
              </a:spcAft>
            </a:pPr>
            <a:r>
              <a:rPr sz="1250">
                <a:solidFill>
                  <a:srgbClr val="251F1E"/>
                </a:solidFill>
                <a:latin typeface="Microsoft YaHei"/>
                <a:ea typeface="Microsoft YaHei"/>
                <a:cs typeface="Microsoft YaHei"/>
              </a:rPr>
              <a:t>• 制度体现：理论学习、课程教材、新闻舆论、网络治理、文化建设、哲学社会科学研究都要体现正确导向。</a:t>
            </a:r>
          </a:p>
          <a:p>
            <a:pPr algn="l">
              <a:spcAft>
                <a:spcPts val="400"/>
              </a:spcAft>
            </a:pPr>
            <a:r>
              <a:rPr sz="1250">
                <a:solidFill>
                  <a:srgbClr val="251F1E"/>
                </a:solidFill>
                <a:latin typeface="Microsoft YaHei"/>
                <a:ea typeface="Microsoft YaHei"/>
                <a:cs typeface="Microsoft YaHei"/>
              </a:rPr>
              <a:t>• 教材、课堂、媒体和短视频平台都不是价值中立的空白空间，都会影响青年怎样理解国家、历史和个人责任。</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理论逻辑</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5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不是排他，而是守正创新</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Rounded Rectangle 10"/>
          <p:cNvSpPr/>
          <p:nvPr/>
        </p:nvSpPr>
        <p:spPr>
          <a:xfrm>
            <a:off x="749808" y="1755648"/>
            <a:ext cx="5074920" cy="41879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Rectangle 11"/>
          <p:cNvSpPr/>
          <p:nvPr/>
        </p:nvSpPr>
        <p:spPr>
          <a:xfrm>
            <a:off x="749808" y="1755648"/>
            <a:ext cx="5074920" cy="530352"/>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3" name="TextBox 12"/>
          <p:cNvSpPr txBox="1"/>
          <p:nvPr/>
        </p:nvSpPr>
        <p:spPr>
          <a:xfrm>
            <a:off x="987552" y="1901952"/>
            <a:ext cx="1097280" cy="292608"/>
          </a:xfrm>
          <a:prstGeom prst="rect">
            <a:avLst/>
          </a:prstGeom>
          <a:noFill/>
        </p:spPr>
        <p:txBody>
          <a:bodyPr wrap="square" lIns="22860" rIns="22860" tIns="16459" bIns="16459" anchor="ctr">
            <a:normAutofit/>
          </a:bodyPr>
          <a:lstStyle/>
          <a:p>
            <a:pPr algn="ctr"/>
            <a:r>
              <a:rPr sz="1600" b="1">
                <a:solidFill>
                  <a:srgbClr val="FFFDF8"/>
                </a:solidFill>
                <a:latin typeface="Microsoft YaHei"/>
                <a:ea typeface="Microsoft YaHei"/>
                <a:cs typeface="Microsoft YaHei"/>
              </a:rPr>
              <a:t>守正</a:t>
            </a:r>
          </a:p>
        </p:txBody>
      </p:sp>
      <p:sp>
        <p:nvSpPr>
          <p:cNvPr id="14" name="TextBox 13"/>
          <p:cNvSpPr txBox="1"/>
          <p:nvPr/>
        </p:nvSpPr>
        <p:spPr>
          <a:xfrm>
            <a:off x="932688" y="2523744"/>
            <a:ext cx="4443984" cy="1737360"/>
          </a:xfrm>
          <a:prstGeom prst="rect">
            <a:avLst/>
          </a:prstGeom>
          <a:noFill/>
        </p:spPr>
        <p:txBody>
          <a:bodyPr wrap="square" lIns="22860" rIns="22860" tIns="16459" bIns="16459" anchor="t">
            <a:normAutofit/>
          </a:bodyPr>
          <a:lstStyle/>
          <a:p>
            <a:pPr algn="l">
              <a:spcAft>
                <a:spcPts val="400"/>
              </a:spcAft>
            </a:pPr>
            <a:r>
              <a:rPr sz="1320">
                <a:solidFill>
                  <a:srgbClr val="251F1E"/>
                </a:solidFill>
                <a:latin typeface="Microsoft YaHei"/>
                <a:ea typeface="Microsoft YaHei"/>
                <a:cs typeface="Microsoft YaHei"/>
              </a:rPr>
              <a:t>• 坚持指导地位不是拒绝一切外来文明成果，而是在多样思想中保持根本方向。</a:t>
            </a:r>
          </a:p>
          <a:p>
            <a:pPr algn="l">
              <a:spcAft>
                <a:spcPts val="400"/>
              </a:spcAft>
            </a:pPr>
            <a:r>
              <a:rPr sz="1320">
                <a:solidFill>
                  <a:srgbClr val="251F1E"/>
                </a:solidFill>
                <a:latin typeface="Microsoft YaHei"/>
                <a:ea typeface="Microsoft YaHei"/>
                <a:cs typeface="Microsoft YaHei"/>
              </a:rPr>
              <a:t>• 习近平新时代中国特色社会主义思想强调守正创新。守正是坚持正确政治方向、人民立场和文化自信；创新是根据新时代实践不断发展理论表达和工作方法。</a:t>
            </a:r>
          </a:p>
        </p:txBody>
      </p:sp>
      <p:sp>
        <p:nvSpPr>
          <p:cNvPr id="15" name="TextBox 14"/>
          <p:cNvSpPr txBox="1"/>
          <p:nvPr/>
        </p:nvSpPr>
        <p:spPr>
          <a:xfrm>
            <a:off x="987552" y="4645152"/>
            <a:ext cx="4297680" cy="274320"/>
          </a:xfrm>
          <a:prstGeom prst="rect">
            <a:avLst/>
          </a:prstGeom>
          <a:noFill/>
        </p:spPr>
        <p:txBody>
          <a:bodyPr wrap="square" lIns="22860" rIns="22860" tIns="16459" bIns="16459" anchor="ctr">
            <a:normAutofit/>
          </a:bodyPr>
          <a:lstStyle/>
          <a:p>
            <a:pPr algn="l"/>
            <a:r>
              <a:rPr sz="1360" b="1">
                <a:solidFill>
                  <a:srgbClr val="681412"/>
                </a:solidFill>
                <a:latin typeface="Microsoft YaHei"/>
                <a:ea typeface="Microsoft YaHei"/>
                <a:cs typeface="Microsoft YaHei"/>
              </a:rPr>
              <a:t>坚持正确方向、人民立场和文化自信。</a:t>
            </a:r>
          </a:p>
        </p:txBody>
      </p:sp>
      <p:sp>
        <p:nvSpPr>
          <p:cNvPr id="16" name="Rounded Rectangle 15"/>
          <p:cNvSpPr/>
          <p:nvPr/>
        </p:nvSpPr>
        <p:spPr>
          <a:xfrm>
            <a:off x="6355080" y="1755648"/>
            <a:ext cx="5074920" cy="4187952"/>
          </a:xfrm>
          <a:prstGeom prst="roundRect">
            <a:avLst/>
          </a:prstGeom>
          <a:solidFill>
            <a:srgbClr val="F0D8D4"/>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7" name="Rectangle 16"/>
          <p:cNvSpPr/>
          <p:nvPr/>
        </p:nvSpPr>
        <p:spPr>
          <a:xfrm>
            <a:off x="6355080" y="1755648"/>
            <a:ext cx="5074920" cy="530352"/>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8" name="TextBox 17"/>
          <p:cNvSpPr txBox="1"/>
          <p:nvPr/>
        </p:nvSpPr>
        <p:spPr>
          <a:xfrm>
            <a:off x="6583680" y="1901952"/>
            <a:ext cx="1097280" cy="292608"/>
          </a:xfrm>
          <a:prstGeom prst="rect">
            <a:avLst/>
          </a:prstGeom>
          <a:noFill/>
        </p:spPr>
        <p:txBody>
          <a:bodyPr wrap="square" lIns="22860" rIns="22860" tIns="16459" bIns="16459" anchor="ctr">
            <a:normAutofit/>
          </a:bodyPr>
          <a:lstStyle/>
          <a:p>
            <a:pPr algn="ctr"/>
            <a:r>
              <a:rPr sz="1600" b="1">
                <a:solidFill>
                  <a:srgbClr val="FFFDF8"/>
                </a:solidFill>
                <a:latin typeface="Microsoft YaHei"/>
                <a:ea typeface="Microsoft YaHei"/>
                <a:cs typeface="Microsoft YaHei"/>
              </a:rPr>
              <a:t>创新</a:t>
            </a:r>
          </a:p>
        </p:txBody>
      </p:sp>
      <p:sp>
        <p:nvSpPr>
          <p:cNvPr id="19" name="TextBox 18"/>
          <p:cNvSpPr txBox="1"/>
          <p:nvPr/>
        </p:nvSpPr>
        <p:spPr>
          <a:xfrm>
            <a:off x="6547104" y="2523744"/>
            <a:ext cx="4407408" cy="2240280"/>
          </a:xfrm>
          <a:prstGeom prst="rect">
            <a:avLst/>
          </a:prstGeom>
          <a:noFill/>
        </p:spPr>
        <p:txBody>
          <a:bodyPr wrap="square" lIns="22860" rIns="22860" tIns="16459" bIns="16459" anchor="t">
            <a:normAutofit/>
          </a:bodyPr>
          <a:lstStyle/>
          <a:p>
            <a:pPr algn="l">
              <a:spcAft>
                <a:spcPts val="400"/>
              </a:spcAft>
            </a:pPr>
            <a:r>
              <a:rPr sz="1320">
                <a:solidFill>
                  <a:srgbClr val="251F1E"/>
                </a:solidFill>
                <a:latin typeface="Microsoft YaHei"/>
                <a:ea typeface="Microsoft YaHei"/>
                <a:cs typeface="Microsoft YaHei"/>
              </a:rPr>
              <a:t>• 方法理解：吸收有益文明成果可以，但必须立足中国实际、服务中国人民、服从中国道路。</a:t>
            </a:r>
          </a:p>
          <a:p>
            <a:pPr algn="l">
              <a:spcAft>
                <a:spcPts val="400"/>
              </a:spcAft>
            </a:pPr>
            <a:r>
              <a:rPr sz="1320">
                <a:solidFill>
                  <a:srgbClr val="251F1E"/>
                </a:solidFill>
                <a:latin typeface="Microsoft YaHei"/>
                <a:ea typeface="Microsoft YaHei"/>
                <a:cs typeface="Microsoft YaHei"/>
              </a:rPr>
              <a:t>• 学习国外技术、管理经验和文化表达方式，并不等于照搬其价值模式；关键是为中国式现代化服务。</a:t>
            </a:r>
          </a:p>
        </p:txBody>
      </p:sp>
      <p:sp>
        <p:nvSpPr>
          <p:cNvPr id="20" name="TextBox 19"/>
          <p:cNvSpPr txBox="1"/>
          <p:nvPr/>
        </p:nvSpPr>
        <p:spPr>
          <a:xfrm>
            <a:off x="6583680" y="5074920"/>
            <a:ext cx="4206240" cy="228600"/>
          </a:xfrm>
          <a:prstGeom prst="rect">
            <a:avLst/>
          </a:prstGeom>
          <a:noFill/>
        </p:spPr>
        <p:txBody>
          <a:bodyPr wrap="square" lIns="22860" rIns="22860" tIns="16459" bIns="16459" anchor="ctr">
            <a:normAutofit/>
          </a:bodyPr>
          <a:lstStyle/>
          <a:p>
            <a:pPr algn="l"/>
            <a:r>
              <a:rPr sz="1320" b="1">
                <a:solidFill>
                  <a:srgbClr val="8B651F"/>
                </a:solidFill>
                <a:latin typeface="Microsoft YaHei"/>
                <a:ea typeface="Microsoft YaHei"/>
                <a:cs typeface="Microsoft YaHei"/>
              </a:rPr>
              <a:t>立足中国实际，服务中国式现代化。</a:t>
            </a:r>
          </a:p>
        </p:txBody>
      </p:sp>
      <p:sp>
        <p:nvSpPr>
          <p:cNvPr id="21" name="TextBox 20"/>
          <p:cNvSpPr txBox="1"/>
          <p:nvPr/>
        </p:nvSpPr>
        <p:spPr>
          <a:xfrm>
            <a:off x="4370832" y="6089904"/>
            <a:ext cx="3657600" cy="256032"/>
          </a:xfrm>
          <a:prstGeom prst="rect">
            <a:avLst/>
          </a:prstGeom>
          <a:noFill/>
        </p:spPr>
        <p:txBody>
          <a:bodyPr wrap="square" lIns="22860" rIns="22860" tIns="16459" bIns="16459" anchor="ctr">
            <a:normAutofit/>
          </a:bodyPr>
          <a:lstStyle/>
          <a:p>
            <a:pPr algn="ctr"/>
            <a:r>
              <a:rPr sz="1500" b="1">
                <a:solidFill>
                  <a:srgbClr val="681412"/>
                </a:solidFill>
                <a:latin typeface="Microsoft YaHei"/>
                <a:ea typeface="Microsoft YaHei"/>
                <a:cs typeface="Microsoft YaHei"/>
              </a:rPr>
              <a:t>坚持 ≠ 封闭；借鉴 ≠ 照搬。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历史逻辑</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6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苏联的教训（1）</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cxnSp>
        <p:nvCxnSpPr>
          <p:cNvPr id="11" name="Connector 10"/>
          <p:cNvCxnSpPr/>
          <p:nvPr/>
        </p:nvCxnSpPr>
        <p:spPr>
          <a:xfrm>
            <a:off x="1097280" y="2816352"/>
            <a:ext cx="8412480" cy="0"/>
          </a:xfrm>
          <a:prstGeom prst="line">
            <a:avLst/>
          </a:prstGeom>
          <a:ln w="38100">
            <a:solidFill>
              <a:srgbClr val="C99A3F"/>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14400" y="2404872"/>
            <a:ext cx="822960" cy="822960"/>
          </a:xfrm>
          <a:prstGeom prst="ellips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3" name="TextBox 12"/>
          <p:cNvSpPr txBox="1"/>
          <p:nvPr/>
        </p:nvSpPr>
        <p:spPr>
          <a:xfrm>
            <a:off x="1197864" y="2642616"/>
            <a:ext cx="256032" cy="292608"/>
          </a:xfrm>
          <a:prstGeom prst="rect">
            <a:avLst/>
          </a:prstGeom>
          <a:noFill/>
        </p:spPr>
        <p:txBody>
          <a:bodyPr wrap="square" lIns="22860" rIns="22860" tIns="16459" bIns="16459" anchor="ctr">
            <a:normAutofit/>
          </a:bodyPr>
          <a:lstStyle/>
          <a:p>
            <a:pPr algn="ctr"/>
            <a:r>
              <a:rPr sz="1400" b="1">
                <a:solidFill>
                  <a:srgbClr val="FFFDF8"/>
                </a:solidFill>
                <a:latin typeface="Microsoft YaHei"/>
                <a:ea typeface="Microsoft YaHei"/>
                <a:cs typeface="Microsoft YaHei"/>
              </a:rPr>
              <a:t>1</a:t>
            </a:r>
          </a:p>
        </p:txBody>
      </p:sp>
      <p:sp>
        <p:nvSpPr>
          <p:cNvPr id="14" name="Rounded Rectangle 13"/>
          <p:cNvSpPr/>
          <p:nvPr/>
        </p:nvSpPr>
        <p:spPr>
          <a:xfrm>
            <a:off x="594360" y="3429000"/>
            <a:ext cx="1481328" cy="71323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5" name="TextBox 14"/>
          <p:cNvSpPr txBox="1"/>
          <p:nvPr/>
        </p:nvSpPr>
        <p:spPr>
          <a:xfrm>
            <a:off x="749808" y="3639312"/>
            <a:ext cx="1170432" cy="292608"/>
          </a:xfrm>
          <a:prstGeom prst="rect">
            <a:avLst/>
          </a:prstGeom>
          <a:noFill/>
        </p:spPr>
        <p:txBody>
          <a:bodyPr wrap="square" lIns="22860" rIns="22860" tIns="16459" bIns="16459" anchor="ctr">
            <a:normAutofit/>
          </a:bodyPr>
          <a:lstStyle/>
          <a:p>
            <a:pPr algn="ctr"/>
            <a:r>
              <a:rPr sz="1120" b="1">
                <a:solidFill>
                  <a:srgbClr val="251F1E"/>
                </a:solidFill>
                <a:latin typeface="Microsoft YaHei"/>
                <a:ea typeface="Microsoft YaHei"/>
                <a:cs typeface="Microsoft YaHei"/>
              </a:rPr>
              <a:t>理论解释力下降</a:t>
            </a:r>
          </a:p>
        </p:txBody>
      </p:sp>
      <p:sp>
        <p:nvSpPr>
          <p:cNvPr id="16" name="Oval 15"/>
          <p:cNvSpPr/>
          <p:nvPr/>
        </p:nvSpPr>
        <p:spPr>
          <a:xfrm>
            <a:off x="3337560" y="2404872"/>
            <a:ext cx="822960" cy="822960"/>
          </a:xfrm>
          <a:prstGeom prst="ellips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7" name="TextBox 16"/>
          <p:cNvSpPr txBox="1"/>
          <p:nvPr/>
        </p:nvSpPr>
        <p:spPr>
          <a:xfrm>
            <a:off x="3621024" y="2642616"/>
            <a:ext cx="256032" cy="292608"/>
          </a:xfrm>
          <a:prstGeom prst="rect">
            <a:avLst/>
          </a:prstGeom>
          <a:noFill/>
        </p:spPr>
        <p:txBody>
          <a:bodyPr wrap="square" lIns="22860" rIns="22860" tIns="16459" bIns="16459" anchor="ctr">
            <a:normAutofit/>
          </a:bodyPr>
          <a:lstStyle/>
          <a:p>
            <a:pPr algn="ctr"/>
            <a:r>
              <a:rPr sz="1400" b="1">
                <a:solidFill>
                  <a:srgbClr val="FFFDF8"/>
                </a:solidFill>
                <a:latin typeface="Microsoft YaHei"/>
                <a:ea typeface="Microsoft YaHei"/>
                <a:cs typeface="Microsoft YaHei"/>
              </a:rPr>
              <a:t>2</a:t>
            </a:r>
          </a:p>
        </p:txBody>
      </p:sp>
      <p:sp>
        <p:nvSpPr>
          <p:cNvPr id="18" name="Rounded Rectangle 17"/>
          <p:cNvSpPr/>
          <p:nvPr/>
        </p:nvSpPr>
        <p:spPr>
          <a:xfrm>
            <a:off x="3017520" y="3429000"/>
            <a:ext cx="1481328" cy="71323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9" name="TextBox 18"/>
          <p:cNvSpPr txBox="1"/>
          <p:nvPr/>
        </p:nvSpPr>
        <p:spPr>
          <a:xfrm>
            <a:off x="3172968" y="3639312"/>
            <a:ext cx="1170432" cy="292608"/>
          </a:xfrm>
          <a:prstGeom prst="rect">
            <a:avLst/>
          </a:prstGeom>
          <a:noFill/>
        </p:spPr>
        <p:txBody>
          <a:bodyPr wrap="square" lIns="22860" rIns="22860" tIns="16459" bIns="16459" anchor="ctr">
            <a:normAutofit/>
          </a:bodyPr>
          <a:lstStyle/>
          <a:p>
            <a:pPr algn="ctr"/>
            <a:r>
              <a:rPr sz="1120" b="1">
                <a:solidFill>
                  <a:srgbClr val="251F1E"/>
                </a:solidFill>
                <a:latin typeface="Microsoft YaHei"/>
                <a:ea typeface="Microsoft YaHei"/>
                <a:cs typeface="Microsoft YaHei"/>
              </a:rPr>
              <a:t>阵地意识弱化</a:t>
            </a:r>
          </a:p>
        </p:txBody>
      </p:sp>
      <p:sp>
        <p:nvSpPr>
          <p:cNvPr id="20" name="Oval 19"/>
          <p:cNvSpPr/>
          <p:nvPr/>
        </p:nvSpPr>
        <p:spPr>
          <a:xfrm>
            <a:off x="5760720" y="2404872"/>
            <a:ext cx="822960" cy="822960"/>
          </a:xfrm>
          <a:prstGeom prst="ellips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1" name="TextBox 20"/>
          <p:cNvSpPr txBox="1"/>
          <p:nvPr/>
        </p:nvSpPr>
        <p:spPr>
          <a:xfrm>
            <a:off x="6044183" y="2642616"/>
            <a:ext cx="256032" cy="292608"/>
          </a:xfrm>
          <a:prstGeom prst="rect">
            <a:avLst/>
          </a:prstGeom>
          <a:noFill/>
        </p:spPr>
        <p:txBody>
          <a:bodyPr wrap="square" lIns="22860" rIns="22860" tIns="16459" bIns="16459" anchor="ctr">
            <a:normAutofit/>
          </a:bodyPr>
          <a:lstStyle/>
          <a:p>
            <a:pPr algn="ctr"/>
            <a:r>
              <a:rPr sz="1400" b="1">
                <a:solidFill>
                  <a:srgbClr val="FFFDF8"/>
                </a:solidFill>
                <a:latin typeface="Microsoft YaHei"/>
                <a:ea typeface="Microsoft YaHei"/>
                <a:cs typeface="Microsoft YaHei"/>
              </a:rPr>
              <a:t>3</a:t>
            </a:r>
          </a:p>
        </p:txBody>
      </p:sp>
      <p:sp>
        <p:nvSpPr>
          <p:cNvPr id="22" name="Rounded Rectangle 21"/>
          <p:cNvSpPr/>
          <p:nvPr/>
        </p:nvSpPr>
        <p:spPr>
          <a:xfrm>
            <a:off x="5440680" y="3429000"/>
            <a:ext cx="1481328" cy="71323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3" name="TextBox 22"/>
          <p:cNvSpPr txBox="1"/>
          <p:nvPr/>
        </p:nvSpPr>
        <p:spPr>
          <a:xfrm>
            <a:off x="5596128" y="3639312"/>
            <a:ext cx="1170432" cy="292608"/>
          </a:xfrm>
          <a:prstGeom prst="rect">
            <a:avLst/>
          </a:prstGeom>
          <a:noFill/>
        </p:spPr>
        <p:txBody>
          <a:bodyPr wrap="square" lIns="22860" rIns="22860" tIns="16459" bIns="16459" anchor="ctr">
            <a:normAutofit/>
          </a:bodyPr>
          <a:lstStyle/>
          <a:p>
            <a:pPr algn="ctr"/>
            <a:r>
              <a:rPr sz="1120" b="1">
                <a:solidFill>
                  <a:srgbClr val="251F1E"/>
                </a:solidFill>
                <a:latin typeface="Microsoft YaHei"/>
                <a:ea typeface="Microsoft YaHei"/>
                <a:cs typeface="Microsoft YaHei"/>
              </a:rPr>
              <a:t>社会信仰动摇</a:t>
            </a:r>
          </a:p>
        </p:txBody>
      </p:sp>
      <p:sp>
        <p:nvSpPr>
          <p:cNvPr id="24" name="Oval 23"/>
          <p:cNvSpPr/>
          <p:nvPr/>
        </p:nvSpPr>
        <p:spPr>
          <a:xfrm>
            <a:off x="8183879" y="2404872"/>
            <a:ext cx="822960" cy="822960"/>
          </a:xfrm>
          <a:prstGeom prst="ellips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5" name="TextBox 24"/>
          <p:cNvSpPr txBox="1"/>
          <p:nvPr/>
        </p:nvSpPr>
        <p:spPr>
          <a:xfrm>
            <a:off x="8467344" y="2642616"/>
            <a:ext cx="256032" cy="292608"/>
          </a:xfrm>
          <a:prstGeom prst="rect">
            <a:avLst/>
          </a:prstGeom>
          <a:noFill/>
        </p:spPr>
        <p:txBody>
          <a:bodyPr wrap="square" lIns="22860" rIns="22860" tIns="16459" bIns="16459" anchor="ctr">
            <a:normAutofit/>
          </a:bodyPr>
          <a:lstStyle/>
          <a:p>
            <a:pPr algn="ctr"/>
            <a:r>
              <a:rPr sz="1400" b="1">
                <a:solidFill>
                  <a:srgbClr val="FFFDF8"/>
                </a:solidFill>
                <a:latin typeface="Microsoft YaHei"/>
                <a:ea typeface="Microsoft YaHei"/>
                <a:cs typeface="Microsoft YaHei"/>
              </a:rPr>
              <a:t>4</a:t>
            </a:r>
          </a:p>
        </p:txBody>
      </p:sp>
      <p:sp>
        <p:nvSpPr>
          <p:cNvPr id="26" name="Rounded Rectangle 25"/>
          <p:cNvSpPr/>
          <p:nvPr/>
        </p:nvSpPr>
        <p:spPr>
          <a:xfrm>
            <a:off x="7863840" y="3429000"/>
            <a:ext cx="1481328" cy="71323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7" name="TextBox 26"/>
          <p:cNvSpPr txBox="1"/>
          <p:nvPr/>
        </p:nvSpPr>
        <p:spPr>
          <a:xfrm>
            <a:off x="8019288" y="3639312"/>
            <a:ext cx="1170432" cy="292608"/>
          </a:xfrm>
          <a:prstGeom prst="rect">
            <a:avLst/>
          </a:prstGeom>
          <a:noFill/>
        </p:spPr>
        <p:txBody>
          <a:bodyPr wrap="square" lIns="22860" rIns="22860" tIns="16459" bIns="16459" anchor="ctr">
            <a:normAutofit/>
          </a:bodyPr>
          <a:lstStyle/>
          <a:p>
            <a:pPr algn="ctr"/>
            <a:r>
              <a:rPr sz="1120" b="1">
                <a:solidFill>
                  <a:srgbClr val="251F1E"/>
                </a:solidFill>
                <a:latin typeface="Microsoft YaHei"/>
                <a:ea typeface="Microsoft YaHei"/>
                <a:cs typeface="Microsoft YaHei"/>
              </a:rPr>
              <a:t>制度根基受冲击</a:t>
            </a:r>
          </a:p>
        </p:txBody>
      </p:sp>
      <p:sp>
        <p:nvSpPr>
          <p:cNvPr id="28" name="Rounded Rectangle 27"/>
          <p:cNvSpPr/>
          <p:nvPr/>
        </p:nvSpPr>
        <p:spPr>
          <a:xfrm>
            <a:off x="841248" y="4663440"/>
            <a:ext cx="4709160" cy="1115568"/>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9" name="TextBox 28"/>
          <p:cNvSpPr txBox="1"/>
          <p:nvPr/>
        </p:nvSpPr>
        <p:spPr>
          <a:xfrm>
            <a:off x="1078992" y="4882896"/>
            <a:ext cx="4224528" cy="347472"/>
          </a:xfrm>
          <a:prstGeom prst="rect">
            <a:avLst/>
          </a:prstGeom>
          <a:noFill/>
        </p:spPr>
        <p:txBody>
          <a:bodyPr wrap="square" lIns="22860" rIns="22860" tIns="16459" bIns="16459" anchor="t">
            <a:normAutofit/>
          </a:bodyPr>
          <a:lstStyle/>
          <a:p>
            <a:pPr algn="l"/>
            <a:r>
              <a:rPr sz="1380" b="1">
                <a:solidFill>
                  <a:srgbClr val="681412"/>
                </a:solidFill>
                <a:latin typeface="Microsoft YaHei"/>
                <a:ea typeface="Microsoft YaHei"/>
                <a:cs typeface="Microsoft YaHei"/>
              </a:rPr>
              <a:t>历史经验说明，如果放弃正确思想引领，社会共识和制度根基就可能被削弱。</a:t>
            </a:r>
          </a:p>
        </p:txBody>
      </p:sp>
      <p:sp>
        <p:nvSpPr>
          <p:cNvPr id="30" name="Rounded Rectangle 29"/>
          <p:cNvSpPr/>
          <p:nvPr/>
        </p:nvSpPr>
        <p:spPr>
          <a:xfrm>
            <a:off x="5897880" y="4663440"/>
            <a:ext cx="5175504" cy="1115568"/>
          </a:xfrm>
          <a:prstGeom prst="roundRect">
            <a:avLst/>
          </a:prstGeom>
          <a:solidFill>
            <a:srgbClr val="EFE1BC"/>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1" name="TextBox 30"/>
          <p:cNvSpPr txBox="1"/>
          <p:nvPr/>
        </p:nvSpPr>
        <p:spPr>
          <a:xfrm>
            <a:off x="6108192" y="4818888"/>
            <a:ext cx="4700016" cy="960120"/>
          </a:xfrm>
          <a:prstGeom prst="rect">
            <a:avLst/>
          </a:prstGeom>
          <a:noFill/>
        </p:spPr>
        <p:txBody>
          <a:bodyPr wrap="square" lIns="22860" rIns="22860" tIns="16459" bIns="16459" anchor="t">
            <a:normAutofit/>
          </a:bodyPr>
          <a:lstStyle/>
          <a:p>
            <a:pPr algn="l">
              <a:spcAft>
                <a:spcPts val="400"/>
              </a:spcAft>
            </a:pPr>
            <a:r>
              <a:rPr sz="980">
                <a:solidFill>
                  <a:srgbClr val="251F1E"/>
                </a:solidFill>
                <a:latin typeface="Microsoft YaHei"/>
                <a:ea typeface="Microsoft YaHei"/>
                <a:cs typeface="Microsoft YaHei"/>
              </a:rPr>
              <a:t>• 苏联后期意识形态阵地失守、理论解释力下降、社会信仰动摇，是其走向解体的重要教训之一。</a:t>
            </a:r>
          </a:p>
          <a:p>
            <a:pPr algn="l">
              <a:spcAft>
                <a:spcPts val="400"/>
              </a:spcAft>
            </a:pPr>
            <a:r>
              <a:rPr sz="980">
                <a:solidFill>
                  <a:srgbClr val="251F1E"/>
                </a:solidFill>
                <a:latin typeface="Microsoft YaHei"/>
                <a:ea typeface="Microsoft YaHei"/>
                <a:cs typeface="Microsoft YaHei"/>
              </a:rPr>
              <a:t>• 启示意义：一个国家如果不能解释自己的道路、凝聚人民共识、守住思想阵地，就容易在复杂环境中失去方向。</a:t>
            </a:r>
          </a:p>
          <a:p>
            <a:pPr algn="l">
              <a:spcAft>
                <a:spcPts val="400"/>
              </a:spcAft>
            </a:pPr>
            <a:r>
              <a:rPr sz="980">
                <a:solidFill>
                  <a:srgbClr val="251F1E"/>
                </a:solidFill>
                <a:latin typeface="Microsoft YaHei"/>
                <a:ea typeface="Microsoft YaHei"/>
                <a:cs typeface="Microsoft YaHei"/>
              </a:rPr>
              <a:t>• 这里重点不是简单重复历史结论，而是引出新时代为什么必须增强理论自信和文化自信。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历史逻辑</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7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中国的经验（2）</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Rounded Rectangle 10"/>
          <p:cNvSpPr/>
          <p:nvPr/>
        </p:nvSpPr>
        <p:spPr>
          <a:xfrm>
            <a:off x="749808" y="1719072"/>
            <a:ext cx="2971800" cy="41879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TextBox 11"/>
          <p:cNvSpPr txBox="1"/>
          <p:nvPr/>
        </p:nvSpPr>
        <p:spPr>
          <a:xfrm>
            <a:off x="1051560" y="1956816"/>
            <a:ext cx="1097280" cy="292608"/>
          </a:xfrm>
          <a:prstGeom prst="rect">
            <a:avLst/>
          </a:prstGeom>
          <a:noFill/>
        </p:spPr>
        <p:txBody>
          <a:bodyPr wrap="square" lIns="22860" rIns="22860" tIns="16459" bIns="16459" anchor="ctr">
            <a:normAutofit/>
          </a:bodyPr>
          <a:lstStyle/>
          <a:p>
            <a:pPr algn="ctr"/>
            <a:r>
              <a:rPr sz="1500" b="1">
                <a:solidFill>
                  <a:srgbClr val="8B651F"/>
                </a:solidFill>
                <a:latin typeface="Microsoft YaHei"/>
                <a:ea typeface="Microsoft YaHei"/>
                <a:cs typeface="Microsoft YaHei"/>
              </a:rPr>
              <a:t>理论统一</a:t>
            </a:r>
          </a:p>
        </p:txBody>
      </p:sp>
      <p:sp>
        <p:nvSpPr>
          <p:cNvPr id="13" name="TextBox 12"/>
          <p:cNvSpPr txBox="1"/>
          <p:nvPr/>
        </p:nvSpPr>
        <p:spPr>
          <a:xfrm>
            <a:off x="960120" y="2359152"/>
            <a:ext cx="2743200" cy="2743200"/>
          </a:xfrm>
          <a:prstGeom prst="rect">
            <a:avLst/>
          </a:prstGeom>
          <a:noFill/>
        </p:spPr>
        <p:txBody>
          <a:bodyPr wrap="square" lIns="22860" rIns="22860" tIns="16459" bIns="16459" anchor="t">
            <a:normAutofit/>
          </a:bodyPr>
          <a:lstStyle/>
          <a:p>
            <a:pPr algn="l">
              <a:spcAft>
                <a:spcPts val="400"/>
              </a:spcAft>
            </a:pPr>
            <a:r>
              <a:rPr sz="919">
                <a:solidFill>
                  <a:srgbClr val="251F1E"/>
                </a:solidFill>
                <a:latin typeface="Microsoft YaHei"/>
                <a:ea typeface="Microsoft YaHei"/>
                <a:cs typeface="Microsoft YaHei"/>
              </a:rPr>
              <a:t>• 中国共产党始终重视用科学理论统一思想、统一意志、统一行动。</a:t>
            </a:r>
          </a:p>
          <a:p>
            <a:pPr algn="l">
              <a:spcAft>
                <a:spcPts val="400"/>
              </a:spcAft>
            </a:pPr>
            <a:r>
              <a:rPr sz="919">
                <a:solidFill>
                  <a:srgbClr val="251F1E"/>
                </a:solidFill>
                <a:latin typeface="Microsoft YaHei"/>
                <a:ea typeface="Microsoft YaHei"/>
                <a:cs typeface="Microsoft YaHei"/>
              </a:rPr>
              <a:t>• 新时代以来，习近平新时代中国特色社会主义思想为党和国家事业发展提供根本遵循，使中国式现代化有明确方向、价值立场和实践路径。</a:t>
            </a:r>
          </a:p>
        </p:txBody>
      </p:sp>
      <p:sp>
        <p:nvSpPr>
          <p:cNvPr id="14" name="Rounded Rectangle 13"/>
          <p:cNvSpPr/>
          <p:nvPr/>
        </p:nvSpPr>
        <p:spPr>
          <a:xfrm>
            <a:off x="4224528" y="1828800"/>
            <a:ext cx="2761488" cy="1335024"/>
          </a:xfrm>
          <a:prstGeom prst="roundRect">
            <a:avLst/>
          </a:prstGeom>
          <a:solidFill>
            <a:srgbClr val="EFE1BC"/>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5" name="TextBox 14"/>
          <p:cNvSpPr txBox="1"/>
          <p:nvPr/>
        </p:nvSpPr>
        <p:spPr>
          <a:xfrm>
            <a:off x="4425696" y="2029968"/>
            <a:ext cx="1645920" cy="292608"/>
          </a:xfrm>
          <a:prstGeom prst="rect">
            <a:avLst/>
          </a:prstGeom>
          <a:noFill/>
        </p:spPr>
        <p:txBody>
          <a:bodyPr wrap="square" lIns="22860" rIns="22860" tIns="16459" bIns="16459" anchor="ctr">
            <a:normAutofit/>
          </a:bodyPr>
          <a:lstStyle/>
          <a:p>
            <a:pPr algn="ctr"/>
            <a:r>
              <a:rPr sz="1600" b="1">
                <a:solidFill>
                  <a:srgbClr val="681412"/>
                </a:solidFill>
                <a:latin typeface="Microsoft YaHei"/>
                <a:ea typeface="Microsoft YaHei"/>
                <a:cs typeface="Microsoft YaHei"/>
              </a:rPr>
              <a:t>脱贫攻坚</a:t>
            </a:r>
          </a:p>
        </p:txBody>
      </p:sp>
      <p:sp>
        <p:nvSpPr>
          <p:cNvPr id="16" name="TextBox 15"/>
          <p:cNvSpPr txBox="1"/>
          <p:nvPr/>
        </p:nvSpPr>
        <p:spPr>
          <a:xfrm>
            <a:off x="4425696" y="2468880"/>
            <a:ext cx="2267712" cy="256032"/>
          </a:xfrm>
          <a:prstGeom prst="rect">
            <a:avLst/>
          </a:prstGeom>
          <a:noFill/>
        </p:spPr>
        <p:txBody>
          <a:bodyPr wrap="square" lIns="22860" rIns="22860" tIns="16459" bIns="16459" anchor="ctr">
            <a:normAutofit/>
          </a:bodyPr>
          <a:lstStyle/>
          <a:p>
            <a:pPr algn="l"/>
            <a:r>
              <a:rPr sz="1250" b="0">
                <a:solidFill>
                  <a:srgbClr val="251F1E"/>
                </a:solidFill>
                <a:latin typeface="Microsoft YaHei"/>
                <a:ea typeface="Microsoft YaHei"/>
                <a:cs typeface="Microsoft YaHei"/>
              </a:rPr>
              <a:t>以人民为中心</a:t>
            </a:r>
          </a:p>
        </p:txBody>
      </p:sp>
      <p:sp>
        <p:nvSpPr>
          <p:cNvPr id="17" name="Rounded Rectangle 16"/>
          <p:cNvSpPr/>
          <p:nvPr/>
        </p:nvSpPr>
        <p:spPr>
          <a:xfrm>
            <a:off x="7470648" y="1828800"/>
            <a:ext cx="2761488" cy="1335024"/>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8" name="TextBox 17"/>
          <p:cNvSpPr txBox="1"/>
          <p:nvPr/>
        </p:nvSpPr>
        <p:spPr>
          <a:xfrm>
            <a:off x="7671816" y="2029968"/>
            <a:ext cx="1645920" cy="292608"/>
          </a:xfrm>
          <a:prstGeom prst="rect">
            <a:avLst/>
          </a:prstGeom>
          <a:noFill/>
        </p:spPr>
        <p:txBody>
          <a:bodyPr wrap="square" lIns="22860" rIns="22860" tIns="16459" bIns="16459" anchor="ctr">
            <a:normAutofit/>
          </a:bodyPr>
          <a:lstStyle/>
          <a:p>
            <a:pPr algn="ctr"/>
            <a:r>
              <a:rPr sz="1600" b="1">
                <a:solidFill>
                  <a:srgbClr val="681412"/>
                </a:solidFill>
                <a:latin typeface="Microsoft YaHei"/>
                <a:ea typeface="Microsoft YaHei"/>
                <a:cs typeface="Microsoft YaHei"/>
              </a:rPr>
              <a:t>生态文明</a:t>
            </a:r>
          </a:p>
        </p:txBody>
      </p:sp>
      <p:sp>
        <p:nvSpPr>
          <p:cNvPr id="19" name="TextBox 18"/>
          <p:cNvSpPr txBox="1"/>
          <p:nvPr/>
        </p:nvSpPr>
        <p:spPr>
          <a:xfrm>
            <a:off x="7671816" y="2468880"/>
            <a:ext cx="2267712" cy="256032"/>
          </a:xfrm>
          <a:prstGeom prst="rect">
            <a:avLst/>
          </a:prstGeom>
          <a:noFill/>
        </p:spPr>
        <p:txBody>
          <a:bodyPr wrap="square" lIns="22860" rIns="22860" tIns="16459" bIns="16459" anchor="ctr">
            <a:normAutofit/>
          </a:bodyPr>
          <a:lstStyle/>
          <a:p>
            <a:pPr algn="l"/>
            <a:r>
              <a:rPr sz="1250" b="0">
                <a:solidFill>
                  <a:srgbClr val="251F1E"/>
                </a:solidFill>
                <a:latin typeface="Microsoft YaHei"/>
                <a:ea typeface="Microsoft YaHei"/>
                <a:cs typeface="Microsoft YaHei"/>
              </a:rPr>
              <a:t>人与自然和谐共生</a:t>
            </a:r>
          </a:p>
        </p:txBody>
      </p:sp>
      <p:sp>
        <p:nvSpPr>
          <p:cNvPr id="20" name="Rounded Rectangle 19"/>
          <p:cNvSpPr/>
          <p:nvPr/>
        </p:nvSpPr>
        <p:spPr>
          <a:xfrm>
            <a:off x="4224528" y="3749039"/>
            <a:ext cx="2761488" cy="1335024"/>
          </a:xfrm>
          <a:prstGeom prst="roundRect">
            <a:avLst/>
          </a:prstGeom>
          <a:solidFill>
            <a:srgbClr val="EFE1BC"/>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1" name="TextBox 20"/>
          <p:cNvSpPr txBox="1"/>
          <p:nvPr/>
        </p:nvSpPr>
        <p:spPr>
          <a:xfrm>
            <a:off x="4425696" y="3950207"/>
            <a:ext cx="1645920" cy="292608"/>
          </a:xfrm>
          <a:prstGeom prst="rect">
            <a:avLst/>
          </a:prstGeom>
          <a:noFill/>
        </p:spPr>
        <p:txBody>
          <a:bodyPr wrap="square" lIns="22860" rIns="22860" tIns="16459" bIns="16459" anchor="ctr">
            <a:normAutofit/>
          </a:bodyPr>
          <a:lstStyle/>
          <a:p>
            <a:pPr algn="ctr"/>
            <a:r>
              <a:rPr sz="1600" b="1">
                <a:solidFill>
                  <a:srgbClr val="681412"/>
                </a:solidFill>
                <a:latin typeface="Microsoft YaHei"/>
                <a:ea typeface="Microsoft YaHei"/>
                <a:cs typeface="Microsoft YaHei"/>
              </a:rPr>
              <a:t>基层治理</a:t>
            </a:r>
          </a:p>
        </p:txBody>
      </p:sp>
      <p:sp>
        <p:nvSpPr>
          <p:cNvPr id="22" name="TextBox 21"/>
          <p:cNvSpPr txBox="1"/>
          <p:nvPr/>
        </p:nvSpPr>
        <p:spPr>
          <a:xfrm>
            <a:off x="4425696" y="4389120"/>
            <a:ext cx="2267712" cy="256032"/>
          </a:xfrm>
          <a:prstGeom prst="rect">
            <a:avLst/>
          </a:prstGeom>
          <a:noFill/>
        </p:spPr>
        <p:txBody>
          <a:bodyPr wrap="square" lIns="22860" rIns="22860" tIns="16459" bIns="16459" anchor="ctr">
            <a:normAutofit/>
          </a:bodyPr>
          <a:lstStyle/>
          <a:p>
            <a:pPr algn="l"/>
            <a:r>
              <a:rPr sz="1250" b="0">
                <a:solidFill>
                  <a:srgbClr val="251F1E"/>
                </a:solidFill>
                <a:latin typeface="Microsoft YaHei"/>
                <a:ea typeface="Microsoft YaHei"/>
                <a:cs typeface="Microsoft YaHei"/>
              </a:rPr>
              <a:t>系统观念</a:t>
            </a:r>
          </a:p>
        </p:txBody>
      </p:sp>
      <p:sp>
        <p:nvSpPr>
          <p:cNvPr id="23" name="Rounded Rectangle 22"/>
          <p:cNvSpPr/>
          <p:nvPr/>
        </p:nvSpPr>
        <p:spPr>
          <a:xfrm>
            <a:off x="7470648" y="3749039"/>
            <a:ext cx="2761488" cy="1335024"/>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4" name="TextBox 23"/>
          <p:cNvSpPr txBox="1"/>
          <p:nvPr/>
        </p:nvSpPr>
        <p:spPr>
          <a:xfrm>
            <a:off x="7671816" y="3950207"/>
            <a:ext cx="1645920" cy="292608"/>
          </a:xfrm>
          <a:prstGeom prst="rect">
            <a:avLst/>
          </a:prstGeom>
          <a:noFill/>
        </p:spPr>
        <p:txBody>
          <a:bodyPr wrap="square" lIns="22860" rIns="22860" tIns="16459" bIns="16459" anchor="ctr">
            <a:normAutofit/>
          </a:bodyPr>
          <a:lstStyle/>
          <a:p>
            <a:pPr algn="ctr"/>
            <a:r>
              <a:rPr sz="1600" b="1">
                <a:solidFill>
                  <a:srgbClr val="681412"/>
                </a:solidFill>
                <a:latin typeface="Microsoft YaHei"/>
                <a:ea typeface="Microsoft YaHei"/>
                <a:cs typeface="Microsoft YaHei"/>
              </a:rPr>
              <a:t>科技创新</a:t>
            </a:r>
          </a:p>
        </p:txBody>
      </p:sp>
      <p:sp>
        <p:nvSpPr>
          <p:cNvPr id="25" name="TextBox 24"/>
          <p:cNvSpPr txBox="1"/>
          <p:nvPr/>
        </p:nvSpPr>
        <p:spPr>
          <a:xfrm>
            <a:off x="7671816" y="4389120"/>
            <a:ext cx="2267712" cy="256032"/>
          </a:xfrm>
          <a:prstGeom prst="rect">
            <a:avLst/>
          </a:prstGeom>
          <a:noFill/>
        </p:spPr>
        <p:txBody>
          <a:bodyPr wrap="square" lIns="22860" rIns="22860" tIns="16459" bIns="16459" anchor="ctr">
            <a:normAutofit/>
          </a:bodyPr>
          <a:lstStyle/>
          <a:p>
            <a:pPr algn="l"/>
            <a:r>
              <a:rPr sz="1250" b="0">
                <a:solidFill>
                  <a:srgbClr val="251F1E"/>
                </a:solidFill>
                <a:latin typeface="Microsoft YaHei"/>
                <a:ea typeface="Microsoft YaHei"/>
                <a:cs typeface="Microsoft YaHei"/>
              </a:rPr>
              <a:t>自立自强</a:t>
            </a:r>
          </a:p>
        </p:txBody>
      </p:sp>
      <p:sp>
        <p:nvSpPr>
          <p:cNvPr id="26" name="Rounded Rectangle 25"/>
          <p:cNvSpPr/>
          <p:nvPr/>
        </p:nvSpPr>
        <p:spPr>
          <a:xfrm>
            <a:off x="4224528" y="5522976"/>
            <a:ext cx="5998464" cy="493776"/>
          </a:xfrm>
          <a:prstGeom prst="roundRect">
            <a:avLst/>
          </a:prstGeom>
          <a:solidFill>
            <a:srgbClr val="FFFDF8"/>
          </a:solidFill>
          <a:ln w="12700">
            <a:solidFill>
              <a:srgbClr val="C99A3F"/>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7" name="TextBox 26"/>
          <p:cNvSpPr txBox="1"/>
          <p:nvPr/>
        </p:nvSpPr>
        <p:spPr>
          <a:xfrm>
            <a:off x="4443984" y="5650992"/>
            <a:ext cx="5541264" cy="402336"/>
          </a:xfrm>
          <a:prstGeom prst="rect">
            <a:avLst/>
          </a:prstGeom>
          <a:noFill/>
        </p:spPr>
        <p:txBody>
          <a:bodyPr wrap="square" lIns="22860" rIns="22860" tIns="16459" bIns="16459" anchor="t">
            <a:normAutofit/>
          </a:bodyPr>
          <a:lstStyle/>
          <a:p>
            <a:pPr algn="l"/>
            <a:r>
              <a:rPr sz="980" b="0">
                <a:solidFill>
                  <a:srgbClr val="6D625C"/>
                </a:solidFill>
                <a:latin typeface="Microsoft YaHei"/>
                <a:ea typeface="Microsoft YaHei"/>
                <a:cs typeface="Microsoft YaHei"/>
              </a:rPr>
              <a:t>脱贫攻坚体现以人民为中心，生态文明建设体现人与自然和谐共生，都是理论指导实践的具体表现。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182880"/>
          </a:xfrm>
          <a:prstGeom prst="rect">
            <a:avLst/>
          </a:prstGeom>
          <a:noFill/>
        </p:spPr>
        <p:txBody>
          <a:bodyPr wrap="square" lIns="22860" rIns="22860" tIns="16459" bIns="16459" anchor="ctr">
            <a:normAutofit/>
          </a:bodyPr>
          <a:lstStyle/>
          <a:p>
            <a:pPr algn="ctr"/>
            <a:r>
              <a:rPr sz="980" b="1">
                <a:solidFill>
                  <a:srgbClr val="FFFDF8"/>
                </a:solidFill>
                <a:latin typeface="Microsoft YaHei"/>
                <a:ea typeface="Microsoft YaHei"/>
                <a:cs typeface="Microsoft YaHei"/>
              </a:rPr>
              <a:t>历史逻辑</a:t>
            </a:r>
          </a:p>
        </p:txBody>
      </p:sp>
      <p:sp>
        <p:nvSpPr>
          <p:cNvPr id="8" name="TextBox 7"/>
          <p:cNvSpPr txBox="1"/>
          <p:nvPr/>
        </p:nvSpPr>
        <p:spPr>
          <a:xfrm>
            <a:off x="9948672" y="6327648"/>
            <a:ext cx="1664208" cy="274320"/>
          </a:xfrm>
          <a:prstGeom prst="rect">
            <a:avLst/>
          </a:prstGeom>
          <a:noFill/>
        </p:spPr>
        <p:txBody>
          <a:bodyPr wrap="square" lIns="22860" rIns="22860" tIns="16459" bIns="16459" anchor="ctr">
            <a:normAutofit/>
          </a:bodyPr>
          <a:lstStyle/>
          <a:p>
            <a:pPr algn="ctr"/>
            <a:r>
              <a:rPr sz="800" b="0">
                <a:solidFill>
                  <a:srgbClr val="6D625C"/>
                </a:solidFill>
                <a:latin typeface="Microsoft YaHei"/>
                <a:ea typeface="Microsoft YaHei"/>
                <a:cs typeface="Microsoft YaHei"/>
              </a:rPr>
              <a:t>第 8 页／共 20 页</a:t>
            </a:r>
          </a:p>
        </p:txBody>
      </p:sp>
      <p:sp>
        <p:nvSpPr>
          <p:cNvPr id="9" name="TextBox 8"/>
          <p:cNvSpPr txBox="1"/>
          <p:nvPr/>
        </p:nvSpPr>
        <p:spPr>
          <a:xfrm>
            <a:off x="566928" y="694944"/>
            <a:ext cx="10607040" cy="658368"/>
          </a:xfrm>
          <a:prstGeom prst="rect">
            <a:avLst/>
          </a:prstGeom>
          <a:noFill/>
        </p:spPr>
        <p:txBody>
          <a:bodyPr wrap="square" lIns="22860" rIns="22860" tIns="16459" bIns="16459" anchor="ctr">
            <a:normAutofit/>
          </a:bodyPr>
          <a:lstStyle/>
          <a:p>
            <a:pPr algn="l"/>
            <a:r>
              <a:rPr sz="2500" b="1">
                <a:solidFill>
                  <a:srgbClr val="681412"/>
                </a:solidFill>
                <a:latin typeface="Microsoft YaHei"/>
                <a:ea typeface="Microsoft YaHei"/>
                <a:cs typeface="Microsoft YaHei"/>
              </a:rPr>
              <a:t>对比总结（3）</a:t>
            </a:r>
          </a:p>
        </p:txBody>
      </p:sp>
      <p:sp>
        <p:nvSpPr>
          <p:cNvPr id="10" name="Rectangle 9"/>
          <p:cNvSpPr/>
          <p:nvPr/>
        </p:nvSpPr>
        <p:spPr>
          <a:xfrm>
            <a:off x="603504" y="138988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Rounded Rectangle 10"/>
          <p:cNvSpPr/>
          <p:nvPr/>
        </p:nvSpPr>
        <p:spPr>
          <a:xfrm>
            <a:off x="804672" y="1810512"/>
            <a:ext cx="4892040" cy="14447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Oval 11"/>
          <p:cNvSpPr/>
          <p:nvPr/>
        </p:nvSpPr>
        <p:spPr>
          <a:xfrm>
            <a:off x="1024128" y="2011680"/>
            <a:ext cx="475488" cy="475488"/>
          </a:xfrm>
          <a:prstGeom prst="ellips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3" name="TextBox 12"/>
          <p:cNvSpPr txBox="1"/>
          <p:nvPr/>
        </p:nvSpPr>
        <p:spPr>
          <a:xfrm>
            <a:off x="1170432" y="2157984"/>
            <a:ext cx="182880" cy="91440"/>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1</a:t>
            </a:r>
          </a:p>
        </p:txBody>
      </p:sp>
      <p:sp>
        <p:nvSpPr>
          <p:cNvPr id="14" name="TextBox 13"/>
          <p:cNvSpPr txBox="1"/>
          <p:nvPr/>
        </p:nvSpPr>
        <p:spPr>
          <a:xfrm>
            <a:off x="1645920" y="2011680"/>
            <a:ext cx="3566160" cy="201168"/>
          </a:xfrm>
          <a:prstGeom prst="rect">
            <a:avLst/>
          </a:prstGeom>
          <a:noFill/>
        </p:spPr>
        <p:txBody>
          <a:bodyPr wrap="square" lIns="22860" rIns="22860" tIns="16459" bIns="16459" anchor="ctr">
            <a:normAutofit/>
          </a:bodyPr>
          <a:lstStyle/>
          <a:p>
            <a:pPr algn="l"/>
            <a:r>
              <a:rPr sz="1300" b="1">
                <a:solidFill>
                  <a:srgbClr val="681412"/>
                </a:solidFill>
                <a:latin typeface="Microsoft YaHei"/>
                <a:ea typeface="Microsoft YaHei"/>
                <a:cs typeface="Microsoft YaHei"/>
              </a:rPr>
              <a:t>没有共同思想基础</a:t>
            </a:r>
          </a:p>
        </p:txBody>
      </p:sp>
      <p:sp>
        <p:nvSpPr>
          <p:cNvPr id="15" name="TextBox 14"/>
          <p:cNvSpPr txBox="1"/>
          <p:nvPr/>
        </p:nvSpPr>
        <p:spPr>
          <a:xfrm>
            <a:off x="1645920" y="2340864"/>
            <a:ext cx="3730752" cy="530352"/>
          </a:xfrm>
          <a:prstGeom prst="rect">
            <a:avLst/>
          </a:prstGeom>
          <a:noFill/>
        </p:spPr>
        <p:txBody>
          <a:bodyPr wrap="square" lIns="22860" rIns="22860" tIns="16459" bIns="16459" anchor="t">
            <a:normAutofit/>
          </a:bodyPr>
          <a:lstStyle/>
          <a:p>
            <a:pPr algn="l"/>
            <a:r>
              <a:rPr sz="1220" b="0">
                <a:solidFill>
                  <a:srgbClr val="251F1E"/>
                </a:solidFill>
                <a:latin typeface="Microsoft YaHei"/>
                <a:ea typeface="Microsoft YaHei"/>
                <a:cs typeface="Microsoft YaHei"/>
              </a:rPr>
              <a:t>社会成员容易各说各话，公共讨论难以形成建设性共识。</a:t>
            </a:r>
          </a:p>
        </p:txBody>
      </p:sp>
      <p:sp>
        <p:nvSpPr>
          <p:cNvPr id="16" name="Rounded Rectangle 15"/>
          <p:cNvSpPr/>
          <p:nvPr/>
        </p:nvSpPr>
        <p:spPr>
          <a:xfrm>
            <a:off x="6245352" y="1810512"/>
            <a:ext cx="4892040" cy="1444752"/>
          </a:xfrm>
          <a:prstGeom prst="roundRect">
            <a:avLst/>
          </a:prstGeom>
          <a:solidFill>
            <a:srgbClr val="EFE1BC"/>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7" name="Oval 16"/>
          <p:cNvSpPr/>
          <p:nvPr/>
        </p:nvSpPr>
        <p:spPr>
          <a:xfrm>
            <a:off x="6464808" y="2011680"/>
            <a:ext cx="475488" cy="475488"/>
          </a:xfrm>
          <a:prstGeom prst="ellips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8" name="TextBox 17"/>
          <p:cNvSpPr txBox="1"/>
          <p:nvPr/>
        </p:nvSpPr>
        <p:spPr>
          <a:xfrm>
            <a:off x="6611112" y="2157984"/>
            <a:ext cx="182880" cy="91440"/>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2</a:t>
            </a:r>
          </a:p>
        </p:txBody>
      </p:sp>
      <p:sp>
        <p:nvSpPr>
          <p:cNvPr id="19" name="TextBox 18"/>
          <p:cNvSpPr txBox="1"/>
          <p:nvPr/>
        </p:nvSpPr>
        <p:spPr>
          <a:xfrm>
            <a:off x="7086600" y="2011680"/>
            <a:ext cx="3566160" cy="201168"/>
          </a:xfrm>
          <a:prstGeom prst="rect">
            <a:avLst/>
          </a:prstGeom>
          <a:noFill/>
        </p:spPr>
        <p:txBody>
          <a:bodyPr wrap="square" lIns="22860" rIns="22860" tIns="16459" bIns="16459" anchor="ctr">
            <a:normAutofit/>
          </a:bodyPr>
          <a:lstStyle/>
          <a:p>
            <a:pPr algn="l"/>
            <a:r>
              <a:rPr sz="1300" b="1">
                <a:solidFill>
                  <a:srgbClr val="681412"/>
                </a:solidFill>
                <a:latin typeface="Microsoft YaHei"/>
                <a:ea typeface="Microsoft YaHei"/>
                <a:cs typeface="Microsoft YaHei"/>
              </a:rPr>
              <a:t>指导思想僵化</a:t>
            </a:r>
          </a:p>
        </p:txBody>
      </p:sp>
      <p:sp>
        <p:nvSpPr>
          <p:cNvPr id="20" name="TextBox 19"/>
          <p:cNvSpPr txBox="1"/>
          <p:nvPr/>
        </p:nvSpPr>
        <p:spPr>
          <a:xfrm>
            <a:off x="7086600" y="2340864"/>
            <a:ext cx="3730752" cy="530352"/>
          </a:xfrm>
          <a:prstGeom prst="rect">
            <a:avLst/>
          </a:prstGeom>
          <a:noFill/>
        </p:spPr>
        <p:txBody>
          <a:bodyPr wrap="square" lIns="22860" rIns="22860" tIns="16459" bIns="16459" anchor="ctr">
            <a:normAutofit/>
          </a:bodyPr>
          <a:lstStyle/>
          <a:p>
            <a:pPr algn="l"/>
            <a:r>
              <a:rPr sz="1220" b="0">
                <a:solidFill>
                  <a:srgbClr val="251F1E"/>
                </a:solidFill>
                <a:latin typeface="Microsoft YaHei"/>
                <a:ea typeface="Microsoft YaHei"/>
                <a:cs typeface="Microsoft YaHei"/>
              </a:rPr>
              <a:t>脱离现实会削弱理论解释力和吸引力。</a:t>
            </a:r>
          </a:p>
        </p:txBody>
      </p:sp>
      <p:sp>
        <p:nvSpPr>
          <p:cNvPr id="21" name="Rounded Rectangle 20"/>
          <p:cNvSpPr/>
          <p:nvPr/>
        </p:nvSpPr>
        <p:spPr>
          <a:xfrm>
            <a:off x="804672" y="3749039"/>
            <a:ext cx="4892040" cy="14447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2" name="Oval 21"/>
          <p:cNvSpPr/>
          <p:nvPr/>
        </p:nvSpPr>
        <p:spPr>
          <a:xfrm>
            <a:off x="1024128" y="3950207"/>
            <a:ext cx="475488" cy="475488"/>
          </a:xfrm>
          <a:prstGeom prst="ellips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3" name="TextBox 22"/>
          <p:cNvSpPr txBox="1"/>
          <p:nvPr/>
        </p:nvSpPr>
        <p:spPr>
          <a:xfrm>
            <a:off x="1170432" y="4096511"/>
            <a:ext cx="182880" cy="91440"/>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3</a:t>
            </a:r>
          </a:p>
        </p:txBody>
      </p:sp>
      <p:sp>
        <p:nvSpPr>
          <p:cNvPr id="24" name="TextBox 23"/>
          <p:cNvSpPr txBox="1"/>
          <p:nvPr/>
        </p:nvSpPr>
        <p:spPr>
          <a:xfrm>
            <a:off x="1645920" y="3950207"/>
            <a:ext cx="3566160" cy="201168"/>
          </a:xfrm>
          <a:prstGeom prst="rect">
            <a:avLst/>
          </a:prstGeom>
          <a:noFill/>
        </p:spPr>
        <p:txBody>
          <a:bodyPr wrap="square" lIns="22860" rIns="22860" tIns="16459" bIns="16459" anchor="ctr">
            <a:normAutofit/>
          </a:bodyPr>
          <a:lstStyle/>
          <a:p>
            <a:pPr algn="l"/>
            <a:r>
              <a:rPr sz="1300" b="1">
                <a:solidFill>
                  <a:srgbClr val="681412"/>
                </a:solidFill>
                <a:latin typeface="Microsoft YaHei"/>
                <a:ea typeface="Microsoft YaHei"/>
                <a:cs typeface="Microsoft YaHei"/>
              </a:rPr>
              <a:t>坚持并发展</a:t>
            </a:r>
          </a:p>
        </p:txBody>
      </p:sp>
      <p:sp>
        <p:nvSpPr>
          <p:cNvPr id="25" name="TextBox 24"/>
          <p:cNvSpPr txBox="1"/>
          <p:nvPr/>
        </p:nvSpPr>
        <p:spPr>
          <a:xfrm>
            <a:off x="1645920" y="4279392"/>
            <a:ext cx="3730752" cy="530352"/>
          </a:xfrm>
          <a:prstGeom prst="rect">
            <a:avLst/>
          </a:prstGeom>
          <a:noFill/>
        </p:spPr>
        <p:txBody>
          <a:bodyPr wrap="square" lIns="22860" rIns="22860" tIns="16459" bIns="16459" anchor="ctr">
            <a:normAutofit/>
          </a:bodyPr>
          <a:lstStyle/>
          <a:p>
            <a:pPr algn="l"/>
            <a:r>
              <a:rPr sz="1220" b="0">
                <a:solidFill>
                  <a:srgbClr val="251F1E"/>
                </a:solidFill>
                <a:latin typeface="Microsoft YaHei"/>
                <a:ea typeface="Microsoft YaHei"/>
                <a:cs typeface="Microsoft YaHei"/>
              </a:rPr>
              <a:t>在新时代实践中守正创新，理论才有生命力。</a:t>
            </a:r>
          </a:p>
        </p:txBody>
      </p:sp>
      <p:sp>
        <p:nvSpPr>
          <p:cNvPr id="26" name="Rounded Rectangle 25"/>
          <p:cNvSpPr/>
          <p:nvPr/>
        </p:nvSpPr>
        <p:spPr>
          <a:xfrm>
            <a:off x="6245352" y="3749039"/>
            <a:ext cx="4892040" cy="1444752"/>
          </a:xfrm>
          <a:prstGeom prst="roundRect">
            <a:avLst/>
          </a:prstGeom>
          <a:solidFill>
            <a:srgbClr val="EFE1BC"/>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7" name="Oval 26"/>
          <p:cNvSpPr/>
          <p:nvPr/>
        </p:nvSpPr>
        <p:spPr>
          <a:xfrm>
            <a:off x="6464808" y="3950207"/>
            <a:ext cx="475488" cy="475488"/>
          </a:xfrm>
          <a:prstGeom prst="ellipse">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8" name="TextBox 27"/>
          <p:cNvSpPr txBox="1"/>
          <p:nvPr/>
        </p:nvSpPr>
        <p:spPr>
          <a:xfrm>
            <a:off x="6611112" y="4096511"/>
            <a:ext cx="182880" cy="91440"/>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4</a:t>
            </a:r>
          </a:p>
        </p:txBody>
      </p:sp>
      <p:sp>
        <p:nvSpPr>
          <p:cNvPr id="29" name="TextBox 28"/>
          <p:cNvSpPr txBox="1"/>
          <p:nvPr/>
        </p:nvSpPr>
        <p:spPr>
          <a:xfrm>
            <a:off x="7086600" y="3950207"/>
            <a:ext cx="3566160" cy="201168"/>
          </a:xfrm>
          <a:prstGeom prst="rect">
            <a:avLst/>
          </a:prstGeom>
          <a:noFill/>
        </p:spPr>
        <p:txBody>
          <a:bodyPr wrap="square" lIns="22860" rIns="22860" tIns="16459" bIns="16459" anchor="ctr">
            <a:normAutofit/>
          </a:bodyPr>
          <a:lstStyle/>
          <a:p>
            <a:pPr algn="l"/>
            <a:r>
              <a:rPr sz="1300" b="1">
                <a:solidFill>
                  <a:srgbClr val="681412"/>
                </a:solidFill>
                <a:latin typeface="Microsoft YaHei"/>
                <a:ea typeface="Microsoft YaHei"/>
                <a:cs typeface="Microsoft YaHei"/>
              </a:rPr>
              <a:t>形成实践能力</a:t>
            </a:r>
          </a:p>
        </p:txBody>
      </p:sp>
      <p:sp>
        <p:nvSpPr>
          <p:cNvPr id="30" name="TextBox 29"/>
          <p:cNvSpPr txBox="1"/>
          <p:nvPr/>
        </p:nvSpPr>
        <p:spPr>
          <a:xfrm>
            <a:off x="7086600" y="4279392"/>
            <a:ext cx="3730752" cy="530352"/>
          </a:xfrm>
          <a:prstGeom prst="rect">
            <a:avLst/>
          </a:prstGeom>
          <a:noFill/>
        </p:spPr>
        <p:txBody>
          <a:bodyPr wrap="square" lIns="22860" rIns="22860" tIns="16459" bIns="16459" anchor="t">
            <a:normAutofit/>
          </a:bodyPr>
          <a:lstStyle/>
          <a:p>
            <a:pPr algn="l"/>
            <a:r>
              <a:rPr sz="1220" b="0">
                <a:solidFill>
                  <a:srgbClr val="251F1E"/>
                </a:solidFill>
                <a:latin typeface="Microsoft YaHei"/>
                <a:ea typeface="Microsoft YaHei"/>
                <a:cs typeface="Microsoft YaHei"/>
              </a:rPr>
              <a:t>用习近平新时代中国特色社会主义思想解释现实、指导行动。</a:t>
            </a:r>
          </a:p>
        </p:txBody>
      </p:sp>
      <p:sp>
        <p:nvSpPr>
          <p:cNvPr id="31" name="Rounded Rectangle 30"/>
          <p:cNvSpPr/>
          <p:nvPr/>
        </p:nvSpPr>
        <p:spPr>
          <a:xfrm>
            <a:off x="1051560" y="5541264"/>
            <a:ext cx="10058400" cy="493776"/>
          </a:xfrm>
          <a:prstGeom prst="roundRect">
            <a:avLst/>
          </a:prstGeom>
          <a:solidFill>
            <a:srgbClr val="FFFDF8"/>
          </a:solidFill>
          <a:ln w="12700">
            <a:solidFill>
              <a:srgbClr val="C99A3F"/>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32" name="TextBox 31"/>
          <p:cNvSpPr txBox="1"/>
          <p:nvPr/>
        </p:nvSpPr>
        <p:spPr>
          <a:xfrm>
            <a:off x="1234440" y="5669280"/>
            <a:ext cx="9692640" cy="146304"/>
          </a:xfrm>
          <a:prstGeom prst="rect">
            <a:avLst/>
          </a:prstGeom>
          <a:noFill/>
        </p:spPr>
        <p:txBody>
          <a:bodyPr wrap="square" lIns="22860" rIns="22860" tIns="16459" bIns="16459" anchor="t">
            <a:normAutofit/>
          </a:bodyPr>
          <a:lstStyle/>
          <a:p>
            <a:pPr algn="ctr"/>
            <a:r>
              <a:rPr sz="1320" b="1">
                <a:solidFill>
                  <a:srgbClr val="681412"/>
                </a:solidFill>
                <a:latin typeface="Microsoft YaHei"/>
                <a:ea typeface="Microsoft YaHei"/>
                <a:cs typeface="Microsoft YaHei"/>
              </a:rPr>
              <a:t>辨析重点：共同思想基础、理论解释力、守正创新三者缺一不可。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现实挑战</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9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网络意识形态斗争</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Oval 10"/>
          <p:cNvSpPr/>
          <p:nvPr/>
        </p:nvSpPr>
        <p:spPr>
          <a:xfrm>
            <a:off x="2057400" y="2651760"/>
            <a:ext cx="1645920" cy="1645920"/>
          </a:xfrm>
          <a:prstGeom prst="ellipse">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TextBox 11"/>
          <p:cNvSpPr txBox="1"/>
          <p:nvPr/>
        </p:nvSpPr>
        <p:spPr>
          <a:xfrm>
            <a:off x="2350008" y="3337560"/>
            <a:ext cx="1060704" cy="292608"/>
          </a:xfrm>
          <a:prstGeom prst="rect">
            <a:avLst/>
          </a:prstGeom>
          <a:noFill/>
        </p:spPr>
        <p:txBody>
          <a:bodyPr wrap="square" lIns="22860" rIns="22860" tIns="16459" bIns="16459" anchor="ctr">
            <a:normAutofit/>
          </a:bodyPr>
          <a:lstStyle/>
          <a:p>
            <a:pPr algn="ctr"/>
            <a:r>
              <a:rPr sz="1400" b="1">
                <a:solidFill>
                  <a:srgbClr val="FFFDF8"/>
                </a:solidFill>
                <a:latin typeface="Microsoft YaHei"/>
                <a:ea typeface="Microsoft YaHei"/>
                <a:cs typeface="Microsoft YaHei"/>
              </a:rPr>
              <a:t>网络空间</a:t>
            </a:r>
          </a:p>
        </p:txBody>
      </p:sp>
      <p:cxnSp>
        <p:nvCxnSpPr>
          <p:cNvPr id="13" name="Connector 12"/>
          <p:cNvCxnSpPr/>
          <p:nvPr/>
        </p:nvCxnSpPr>
        <p:spPr>
          <a:xfrm flipH="1" flipV="1">
            <a:off x="1417320" y="2240280"/>
            <a:ext cx="1463040" cy="1234440"/>
          </a:xfrm>
          <a:prstGeom prst="line">
            <a:avLst/>
          </a:prstGeom>
          <a:ln w="19050">
            <a:solidFill>
              <a:srgbClr val="25506E"/>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14400" y="2011680"/>
            <a:ext cx="1371600" cy="493776"/>
          </a:xfrm>
          <a:prstGeom prst="roundRect">
            <a:avLst/>
          </a:prstGeom>
          <a:solidFill>
            <a:srgbClr val="DBE8EF"/>
          </a:solidFill>
          <a:ln w="12700">
            <a:solidFill>
              <a:srgbClr val="25506E"/>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5" name="TextBox 14"/>
          <p:cNvSpPr txBox="1"/>
          <p:nvPr/>
        </p:nvSpPr>
        <p:spPr>
          <a:xfrm>
            <a:off x="1060704" y="2176272"/>
            <a:ext cx="1078992" cy="292608"/>
          </a:xfrm>
          <a:prstGeom prst="rect">
            <a:avLst/>
          </a:prstGeom>
          <a:noFill/>
        </p:spPr>
        <p:txBody>
          <a:bodyPr wrap="square" lIns="22860" rIns="22860" tIns="16459" bIns="16459" anchor="ctr">
            <a:normAutofit/>
          </a:bodyPr>
          <a:lstStyle/>
          <a:p>
            <a:pPr algn="ctr"/>
            <a:r>
              <a:rPr sz="1080" b="1">
                <a:solidFill>
                  <a:srgbClr val="16364D"/>
                </a:solidFill>
                <a:latin typeface="Microsoft YaHei"/>
                <a:ea typeface="Microsoft YaHei"/>
                <a:cs typeface="Microsoft YaHei"/>
              </a:rPr>
              <a:t>算法推荐</a:t>
            </a:r>
          </a:p>
        </p:txBody>
      </p:sp>
      <p:cxnSp>
        <p:nvCxnSpPr>
          <p:cNvPr id="16" name="Connector 15"/>
          <p:cNvCxnSpPr/>
          <p:nvPr/>
        </p:nvCxnSpPr>
        <p:spPr>
          <a:xfrm flipV="1">
            <a:off x="2880360" y="2194560"/>
            <a:ext cx="2560320" cy="1280160"/>
          </a:xfrm>
          <a:prstGeom prst="line">
            <a:avLst/>
          </a:prstGeom>
          <a:ln w="19050">
            <a:solidFill>
              <a:srgbClr val="25506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937760" y="1965960"/>
            <a:ext cx="1371600" cy="493776"/>
          </a:xfrm>
          <a:prstGeom prst="roundRect">
            <a:avLst/>
          </a:prstGeom>
          <a:solidFill>
            <a:srgbClr val="DBE8EF"/>
          </a:solidFill>
          <a:ln w="12700">
            <a:solidFill>
              <a:srgbClr val="25506E"/>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8" name="TextBox 17"/>
          <p:cNvSpPr txBox="1"/>
          <p:nvPr/>
        </p:nvSpPr>
        <p:spPr>
          <a:xfrm>
            <a:off x="5084064" y="2130552"/>
            <a:ext cx="1078992" cy="292608"/>
          </a:xfrm>
          <a:prstGeom prst="rect">
            <a:avLst/>
          </a:prstGeom>
          <a:noFill/>
        </p:spPr>
        <p:txBody>
          <a:bodyPr wrap="square" lIns="22860" rIns="22860" tIns="16459" bIns="16459" anchor="ctr">
            <a:normAutofit/>
          </a:bodyPr>
          <a:lstStyle/>
          <a:p>
            <a:pPr algn="ctr"/>
            <a:r>
              <a:rPr sz="1080" b="1">
                <a:solidFill>
                  <a:srgbClr val="16364D"/>
                </a:solidFill>
                <a:latin typeface="Microsoft YaHei"/>
                <a:ea typeface="Microsoft YaHei"/>
                <a:cs typeface="Microsoft YaHei"/>
              </a:rPr>
              <a:t>碎片传播</a:t>
            </a:r>
          </a:p>
        </p:txBody>
      </p:sp>
      <p:cxnSp>
        <p:nvCxnSpPr>
          <p:cNvPr id="19" name="Connector 18"/>
          <p:cNvCxnSpPr/>
          <p:nvPr/>
        </p:nvCxnSpPr>
        <p:spPr>
          <a:xfrm flipH="1">
            <a:off x="1508760" y="3474720"/>
            <a:ext cx="1371600" cy="1581912"/>
          </a:xfrm>
          <a:prstGeom prst="line">
            <a:avLst/>
          </a:prstGeom>
          <a:ln w="19050">
            <a:solidFill>
              <a:srgbClr val="25506E"/>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05840" y="4828032"/>
            <a:ext cx="1371600" cy="493776"/>
          </a:xfrm>
          <a:prstGeom prst="roundRect">
            <a:avLst/>
          </a:prstGeom>
          <a:solidFill>
            <a:srgbClr val="DBE8EF"/>
          </a:solidFill>
          <a:ln w="12700">
            <a:solidFill>
              <a:srgbClr val="25506E"/>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1" name="TextBox 20"/>
          <p:cNvSpPr txBox="1"/>
          <p:nvPr/>
        </p:nvSpPr>
        <p:spPr>
          <a:xfrm>
            <a:off x="1152144" y="4992624"/>
            <a:ext cx="1078992" cy="292608"/>
          </a:xfrm>
          <a:prstGeom prst="rect">
            <a:avLst/>
          </a:prstGeom>
          <a:noFill/>
        </p:spPr>
        <p:txBody>
          <a:bodyPr wrap="square" lIns="22860" rIns="22860" tIns="16459" bIns="16459" anchor="ctr">
            <a:normAutofit/>
          </a:bodyPr>
          <a:lstStyle/>
          <a:p>
            <a:pPr algn="ctr"/>
            <a:r>
              <a:rPr sz="1080" b="1">
                <a:solidFill>
                  <a:srgbClr val="16364D"/>
                </a:solidFill>
                <a:latin typeface="Microsoft YaHei"/>
                <a:ea typeface="Microsoft YaHei"/>
                <a:cs typeface="Microsoft YaHei"/>
              </a:rPr>
              <a:t>情绪对立</a:t>
            </a:r>
          </a:p>
        </p:txBody>
      </p:sp>
      <p:cxnSp>
        <p:nvCxnSpPr>
          <p:cNvPr id="22" name="Connector 21"/>
          <p:cNvCxnSpPr/>
          <p:nvPr/>
        </p:nvCxnSpPr>
        <p:spPr>
          <a:xfrm>
            <a:off x="2880360" y="3474720"/>
            <a:ext cx="2697480" cy="1554480"/>
          </a:xfrm>
          <a:prstGeom prst="line">
            <a:avLst/>
          </a:prstGeom>
          <a:ln w="19050">
            <a:solidFill>
              <a:srgbClr val="25506E"/>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074920" y="4800600"/>
            <a:ext cx="1371600" cy="493776"/>
          </a:xfrm>
          <a:prstGeom prst="roundRect">
            <a:avLst/>
          </a:prstGeom>
          <a:solidFill>
            <a:srgbClr val="DBE8EF"/>
          </a:solidFill>
          <a:ln w="12700">
            <a:solidFill>
              <a:srgbClr val="25506E"/>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4" name="TextBox 23"/>
          <p:cNvSpPr txBox="1"/>
          <p:nvPr/>
        </p:nvSpPr>
        <p:spPr>
          <a:xfrm>
            <a:off x="5221224" y="4965192"/>
            <a:ext cx="1078992" cy="292608"/>
          </a:xfrm>
          <a:prstGeom prst="rect">
            <a:avLst/>
          </a:prstGeom>
          <a:noFill/>
        </p:spPr>
        <p:txBody>
          <a:bodyPr wrap="square" lIns="22860" rIns="22860" tIns="16459" bIns="16459" anchor="ctr">
            <a:normAutofit/>
          </a:bodyPr>
          <a:lstStyle/>
          <a:p>
            <a:pPr algn="ctr"/>
            <a:r>
              <a:rPr sz="1080" b="1">
                <a:solidFill>
                  <a:srgbClr val="16364D"/>
                </a:solidFill>
                <a:latin typeface="Microsoft YaHei"/>
                <a:ea typeface="Microsoft YaHei"/>
                <a:cs typeface="Microsoft YaHei"/>
              </a:rPr>
              <a:t>虚假信息</a:t>
            </a:r>
          </a:p>
        </p:txBody>
      </p:sp>
      <p:sp>
        <p:nvSpPr>
          <p:cNvPr id="25" name="Rounded Rectangle 24"/>
          <p:cNvSpPr/>
          <p:nvPr/>
        </p:nvSpPr>
        <p:spPr>
          <a:xfrm>
            <a:off x="6629400" y="1755648"/>
            <a:ext cx="4407408" cy="9875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6" name="TextBox 25"/>
          <p:cNvSpPr txBox="1"/>
          <p:nvPr/>
        </p:nvSpPr>
        <p:spPr>
          <a:xfrm>
            <a:off x="6876288" y="1984248"/>
            <a:ext cx="3886200" cy="402336"/>
          </a:xfrm>
          <a:prstGeom prst="rect">
            <a:avLst/>
          </a:prstGeom>
          <a:noFill/>
        </p:spPr>
        <p:txBody>
          <a:bodyPr wrap="square" lIns="22860" rIns="22860" tIns="16459" bIns="16459" anchor="t">
            <a:normAutofit/>
          </a:bodyPr>
          <a:lstStyle/>
          <a:p>
            <a:pPr algn="l"/>
            <a:r>
              <a:rPr sz="1050" b="1">
                <a:solidFill>
                  <a:srgbClr val="681412"/>
                </a:solidFill>
                <a:latin typeface="Microsoft YaHei"/>
                <a:ea typeface="Microsoft YaHei"/>
                <a:cs typeface="Microsoft YaHei"/>
              </a:rPr>
              <a:t>网络空间已经成为意识形态工作的重要阵地，尤其影响青年信息获取和价值判断。</a:t>
            </a:r>
          </a:p>
        </p:txBody>
      </p:sp>
      <p:sp>
        <p:nvSpPr>
          <p:cNvPr id="27" name="Rounded Rectangle 26"/>
          <p:cNvSpPr/>
          <p:nvPr/>
        </p:nvSpPr>
        <p:spPr>
          <a:xfrm>
            <a:off x="6629400" y="3017520"/>
            <a:ext cx="4407408" cy="2176272"/>
          </a:xfrm>
          <a:prstGeom prst="roundRect">
            <a:avLst/>
          </a:prstGeom>
          <a:solidFill>
            <a:srgbClr val="DBE8EF"/>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8" name="TextBox 27"/>
          <p:cNvSpPr txBox="1"/>
          <p:nvPr/>
        </p:nvSpPr>
        <p:spPr>
          <a:xfrm>
            <a:off x="6858000" y="3255264"/>
            <a:ext cx="3858768" cy="1444752"/>
          </a:xfrm>
          <a:prstGeom prst="rect">
            <a:avLst/>
          </a:prstGeom>
          <a:noFill/>
        </p:spPr>
        <p:txBody>
          <a:bodyPr wrap="square" lIns="22860" rIns="22860" tIns="16459" bIns="16459" anchor="t">
            <a:normAutofit/>
          </a:bodyPr>
          <a:lstStyle/>
          <a:p>
            <a:pPr algn="l">
              <a:spcAft>
                <a:spcPts val="400"/>
              </a:spcAft>
            </a:pPr>
            <a:r>
              <a:rPr sz="1220">
                <a:solidFill>
                  <a:srgbClr val="251F1E"/>
                </a:solidFill>
                <a:latin typeface="Microsoft YaHei"/>
                <a:ea typeface="Microsoft YaHei"/>
                <a:cs typeface="Microsoft YaHei"/>
              </a:rPr>
              <a:t>• 现实表现：算法推荐会放大情绪化内容，碎片传播会割裂历史背景，虚假信息会制造焦虑和对立。</a:t>
            </a:r>
          </a:p>
          <a:p>
            <a:pPr algn="l">
              <a:spcAft>
                <a:spcPts val="400"/>
              </a:spcAft>
            </a:pPr>
            <a:r>
              <a:rPr sz="1220">
                <a:solidFill>
                  <a:srgbClr val="251F1E"/>
                </a:solidFill>
                <a:latin typeface="Microsoft YaHei"/>
                <a:ea typeface="Microsoft YaHei"/>
                <a:cs typeface="Microsoft YaHei"/>
              </a:rPr>
              <a:t>• 应对方向：建设清朗网络空间，要坚持正确导向、加强权威信息供给、提升公众媒介素养。</a:t>
            </a:r>
          </a:p>
          <a:p>
            <a:pPr algn="l">
              <a:spcAft>
                <a:spcPts val="400"/>
              </a:spcAft>
            </a:pPr>
            <a:r>
              <a:rPr sz="1220">
                <a:solidFill>
                  <a:srgbClr val="251F1E"/>
                </a:solidFill>
                <a:latin typeface="Microsoft YaHei"/>
                <a:ea typeface="Microsoft YaHei"/>
                <a:cs typeface="Microsoft YaHei"/>
              </a:rPr>
              <a:t>• 遇到歪曲英雄事迹、拼接史料、制造谣言的视频，应先核验来源，再看证据链，最后分析其价值导向。</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现实挑战</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10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社会思想多元复杂</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Oval 10"/>
          <p:cNvSpPr/>
          <p:nvPr/>
        </p:nvSpPr>
        <p:spPr>
          <a:xfrm>
            <a:off x="868680" y="1828800"/>
            <a:ext cx="2926080" cy="2926080"/>
          </a:xfrm>
          <a:prstGeom prst="ellipse">
            <a:avLst/>
          </a:prstGeom>
          <a:solidFill>
            <a:srgbClr val="DBE8EF"/>
          </a:solidFill>
          <a:ln w="12700">
            <a:solidFill>
              <a:srgbClr val="25506E"/>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Isosceles Triangle 11"/>
          <p:cNvSpPr/>
          <p:nvPr/>
        </p:nvSpPr>
        <p:spPr>
          <a:xfrm>
            <a:off x="1828800" y="2029968"/>
            <a:ext cx="1005840" cy="1143000"/>
          </a:xfrm>
          <a:prstGeom prst="triangle">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3" name="Isosceles Triangle 12"/>
          <p:cNvSpPr/>
          <p:nvPr/>
        </p:nvSpPr>
        <p:spPr>
          <a:xfrm>
            <a:off x="1828800" y="3438144"/>
            <a:ext cx="1005840" cy="1143000"/>
          </a:xfrm>
          <a:prstGeom prst="triangle">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4" name="TextBox 13"/>
          <p:cNvSpPr txBox="1"/>
          <p:nvPr/>
        </p:nvSpPr>
        <p:spPr>
          <a:xfrm>
            <a:off x="1527048" y="3017520"/>
            <a:ext cx="1389888" cy="292608"/>
          </a:xfrm>
          <a:prstGeom prst="rect">
            <a:avLst/>
          </a:prstGeom>
          <a:noFill/>
        </p:spPr>
        <p:txBody>
          <a:bodyPr wrap="square" lIns="22860" rIns="22860" tIns="16459" bIns="16459" anchor="ctr">
            <a:normAutofit/>
          </a:bodyPr>
          <a:lstStyle/>
          <a:p>
            <a:pPr algn="ctr"/>
            <a:r>
              <a:rPr sz="1350" b="1">
                <a:solidFill>
                  <a:srgbClr val="16364D"/>
                </a:solidFill>
                <a:latin typeface="Microsoft YaHei"/>
                <a:ea typeface="Microsoft YaHei"/>
                <a:cs typeface="Microsoft YaHei"/>
              </a:rPr>
              <a:t>主导方向</a:t>
            </a:r>
          </a:p>
        </p:txBody>
      </p:sp>
      <p:sp>
        <p:nvSpPr>
          <p:cNvPr id="15" name="Rounded Rectangle 14"/>
          <p:cNvSpPr/>
          <p:nvPr/>
        </p:nvSpPr>
        <p:spPr>
          <a:xfrm>
            <a:off x="4315968" y="1719072"/>
            <a:ext cx="6675120" cy="1060704"/>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6" name="TextBox 15"/>
          <p:cNvSpPr txBox="1"/>
          <p:nvPr/>
        </p:nvSpPr>
        <p:spPr>
          <a:xfrm>
            <a:off x="4572000" y="1965960"/>
            <a:ext cx="6163056" cy="402336"/>
          </a:xfrm>
          <a:prstGeom prst="rect">
            <a:avLst/>
          </a:prstGeom>
          <a:noFill/>
        </p:spPr>
        <p:txBody>
          <a:bodyPr wrap="square" lIns="22860" rIns="22860" tIns="16459" bIns="16459" anchor="t">
            <a:normAutofit/>
          </a:bodyPr>
          <a:lstStyle/>
          <a:p>
            <a:pPr algn="l"/>
            <a:r>
              <a:rPr sz="1050" b="1">
                <a:solidFill>
                  <a:srgbClr val="681412"/>
                </a:solidFill>
                <a:latin typeface="Microsoft YaHei"/>
                <a:ea typeface="Microsoft YaHei"/>
                <a:cs typeface="Microsoft YaHei"/>
              </a:rPr>
              <a:t>市场经济和互联网传播带来思想多元，这是现实情况；关键是要在多元中守住主导方向。</a:t>
            </a:r>
          </a:p>
        </p:txBody>
      </p:sp>
      <p:sp>
        <p:nvSpPr>
          <p:cNvPr id="17" name="Rounded Rectangle 16"/>
          <p:cNvSpPr/>
          <p:nvPr/>
        </p:nvSpPr>
        <p:spPr>
          <a:xfrm>
            <a:off x="4315968" y="3108960"/>
            <a:ext cx="6675120" cy="676656"/>
          </a:xfrm>
          <a:prstGeom prst="roundRect">
            <a:avLst/>
          </a:prstGeom>
          <a:solidFill>
            <a:srgbClr val="DBE8EF"/>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8" name="TextBox 17"/>
          <p:cNvSpPr txBox="1"/>
          <p:nvPr/>
        </p:nvSpPr>
        <p:spPr>
          <a:xfrm>
            <a:off x="4553712" y="3255264"/>
            <a:ext cx="1737360" cy="292608"/>
          </a:xfrm>
          <a:prstGeom prst="rect">
            <a:avLst/>
          </a:prstGeom>
          <a:noFill/>
        </p:spPr>
        <p:txBody>
          <a:bodyPr wrap="square" lIns="22860" rIns="22860" tIns="16459" bIns="16459" anchor="ctr">
            <a:normAutofit/>
          </a:bodyPr>
          <a:lstStyle/>
          <a:p>
            <a:pPr algn="ctr"/>
            <a:r>
              <a:rPr sz="1150" b="1">
                <a:solidFill>
                  <a:srgbClr val="16364D"/>
                </a:solidFill>
                <a:latin typeface="Microsoft YaHei"/>
                <a:ea typeface="Microsoft YaHei"/>
                <a:cs typeface="Microsoft YaHei"/>
              </a:rPr>
              <a:t>多元不是无底线</a:t>
            </a:r>
          </a:p>
        </p:txBody>
      </p:sp>
      <p:sp>
        <p:nvSpPr>
          <p:cNvPr id="19" name="TextBox 18"/>
          <p:cNvSpPr txBox="1"/>
          <p:nvPr/>
        </p:nvSpPr>
        <p:spPr>
          <a:xfrm>
            <a:off x="6327648" y="3218688"/>
            <a:ext cx="4343400" cy="457200"/>
          </a:xfrm>
          <a:prstGeom prst="rect">
            <a:avLst/>
          </a:prstGeom>
          <a:noFill/>
        </p:spPr>
        <p:txBody>
          <a:bodyPr wrap="square" lIns="22860" rIns="22860" tIns="16459" bIns="16459" anchor="t">
            <a:normAutofit/>
          </a:bodyPr>
          <a:lstStyle/>
          <a:p>
            <a:pPr algn="l"/>
            <a:r>
              <a:rPr sz="980" b="0">
                <a:solidFill>
                  <a:srgbClr val="251F1E"/>
                </a:solidFill>
                <a:latin typeface="Microsoft YaHei"/>
                <a:ea typeface="Microsoft YaHei"/>
                <a:cs typeface="Microsoft YaHei"/>
              </a:rPr>
              <a:t>多元并不等于没有底线，讨论并不等于可以否定事实、歪曲历史、消解共同价值。</a:t>
            </a:r>
          </a:p>
        </p:txBody>
      </p:sp>
      <p:sp>
        <p:nvSpPr>
          <p:cNvPr id="20" name="Rounded Rectangle 19"/>
          <p:cNvSpPr/>
          <p:nvPr/>
        </p:nvSpPr>
        <p:spPr>
          <a:xfrm>
            <a:off x="4315968" y="3977639"/>
            <a:ext cx="6675120" cy="676656"/>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1" name="TextBox 20"/>
          <p:cNvSpPr txBox="1"/>
          <p:nvPr/>
        </p:nvSpPr>
        <p:spPr>
          <a:xfrm>
            <a:off x="4553712" y="4123944"/>
            <a:ext cx="1737360" cy="292608"/>
          </a:xfrm>
          <a:prstGeom prst="rect">
            <a:avLst/>
          </a:prstGeom>
          <a:noFill/>
        </p:spPr>
        <p:txBody>
          <a:bodyPr wrap="square" lIns="22860" rIns="22860" tIns="16459" bIns="16459" anchor="ctr">
            <a:normAutofit/>
          </a:bodyPr>
          <a:lstStyle/>
          <a:p>
            <a:pPr algn="ctr"/>
            <a:r>
              <a:rPr sz="1150" b="1">
                <a:solidFill>
                  <a:srgbClr val="16364D"/>
                </a:solidFill>
                <a:latin typeface="Microsoft YaHei"/>
                <a:ea typeface="Microsoft YaHei"/>
                <a:cs typeface="Microsoft YaHei"/>
              </a:rPr>
              <a:t>讨论需要价值坐标</a:t>
            </a:r>
          </a:p>
        </p:txBody>
      </p:sp>
      <p:sp>
        <p:nvSpPr>
          <p:cNvPr id="22" name="TextBox 21"/>
          <p:cNvSpPr txBox="1"/>
          <p:nvPr/>
        </p:nvSpPr>
        <p:spPr>
          <a:xfrm>
            <a:off x="6327648" y="4087368"/>
            <a:ext cx="4343400" cy="493776"/>
          </a:xfrm>
          <a:prstGeom prst="rect">
            <a:avLst/>
          </a:prstGeom>
          <a:noFill/>
        </p:spPr>
        <p:txBody>
          <a:bodyPr wrap="square" lIns="22860" rIns="22860" tIns="16459" bIns="16459" anchor="t">
            <a:normAutofit/>
          </a:bodyPr>
          <a:lstStyle/>
          <a:p>
            <a:pPr algn="l"/>
            <a:r>
              <a:rPr sz="950" b="0">
                <a:solidFill>
                  <a:srgbClr val="251F1E"/>
                </a:solidFill>
                <a:latin typeface="Microsoft YaHei"/>
                <a:ea typeface="Microsoft YaHei"/>
                <a:cs typeface="Microsoft YaHei"/>
              </a:rPr>
              <a:t>理论支撑：习近平新时代中国特色社会主义思想强调人民至上、系统观念、问题导向，为处理复杂社会思潮提供方法。</a:t>
            </a:r>
          </a:p>
        </p:txBody>
      </p:sp>
      <p:sp>
        <p:nvSpPr>
          <p:cNvPr id="23" name="Rounded Rectangle 22"/>
          <p:cNvSpPr/>
          <p:nvPr/>
        </p:nvSpPr>
        <p:spPr>
          <a:xfrm>
            <a:off x="4315968" y="4846320"/>
            <a:ext cx="6675120" cy="676656"/>
          </a:xfrm>
          <a:prstGeom prst="roundRect">
            <a:avLst/>
          </a:prstGeom>
          <a:solidFill>
            <a:srgbClr val="DBE8EF"/>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4" name="TextBox 23"/>
          <p:cNvSpPr txBox="1"/>
          <p:nvPr/>
        </p:nvSpPr>
        <p:spPr>
          <a:xfrm>
            <a:off x="4553712" y="4992624"/>
            <a:ext cx="1737360" cy="292608"/>
          </a:xfrm>
          <a:prstGeom prst="rect">
            <a:avLst/>
          </a:prstGeom>
          <a:noFill/>
        </p:spPr>
        <p:txBody>
          <a:bodyPr wrap="square" lIns="22860" rIns="22860" tIns="16459" bIns="16459" anchor="ctr">
            <a:normAutofit/>
          </a:bodyPr>
          <a:lstStyle/>
          <a:p>
            <a:pPr algn="ctr"/>
            <a:r>
              <a:rPr sz="1150" b="1">
                <a:solidFill>
                  <a:srgbClr val="16364D"/>
                </a:solidFill>
                <a:latin typeface="Microsoft YaHei"/>
                <a:ea typeface="Microsoft YaHei"/>
                <a:cs typeface="Microsoft YaHei"/>
              </a:rPr>
              <a:t>青年成长联系国家发展</a:t>
            </a:r>
          </a:p>
        </p:txBody>
      </p:sp>
      <p:sp>
        <p:nvSpPr>
          <p:cNvPr id="25" name="TextBox 24"/>
          <p:cNvSpPr txBox="1"/>
          <p:nvPr/>
        </p:nvSpPr>
        <p:spPr>
          <a:xfrm>
            <a:off x="6327648" y="4956048"/>
            <a:ext cx="4343400" cy="475488"/>
          </a:xfrm>
          <a:prstGeom prst="rect">
            <a:avLst/>
          </a:prstGeom>
          <a:noFill/>
        </p:spPr>
        <p:txBody>
          <a:bodyPr wrap="square" lIns="22860" rIns="22860" tIns="16459" bIns="16459" anchor="t">
            <a:normAutofit/>
          </a:bodyPr>
          <a:lstStyle/>
          <a:p>
            <a:pPr algn="l"/>
            <a:r>
              <a:rPr sz="960" b="0">
                <a:solidFill>
                  <a:srgbClr val="251F1E"/>
                </a:solidFill>
                <a:latin typeface="Microsoft YaHei"/>
                <a:ea typeface="Microsoft YaHei"/>
                <a:cs typeface="Microsoft YaHei"/>
              </a:rPr>
              <a:t>讨论就业焦虑、消费主义、个人成功时，要把个人发展同社会需要、国家发展和人民生活改善联系起来。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182880"/>
          </a:xfrm>
          <a:prstGeom prst="rect">
            <a:avLst/>
          </a:prstGeom>
          <a:noFill/>
        </p:spPr>
        <p:txBody>
          <a:bodyPr wrap="square" lIns="22860" rIns="22860" tIns="16459" bIns="16459" anchor="ctr">
            <a:normAutofit/>
          </a:bodyPr>
          <a:lstStyle/>
          <a:p>
            <a:pPr algn="ctr"/>
            <a:r>
              <a:rPr sz="980" b="1">
                <a:solidFill>
                  <a:srgbClr val="FFFDF8"/>
                </a:solidFill>
                <a:latin typeface="Microsoft YaHei"/>
                <a:ea typeface="Microsoft YaHei"/>
                <a:cs typeface="Microsoft YaHei"/>
              </a:rPr>
              <a:t>现实挑战</a:t>
            </a:r>
          </a:p>
        </p:txBody>
      </p:sp>
      <p:sp>
        <p:nvSpPr>
          <p:cNvPr id="8" name="TextBox 7"/>
          <p:cNvSpPr txBox="1"/>
          <p:nvPr/>
        </p:nvSpPr>
        <p:spPr>
          <a:xfrm>
            <a:off x="9948672" y="6327648"/>
            <a:ext cx="1664208" cy="274320"/>
          </a:xfrm>
          <a:prstGeom prst="rect">
            <a:avLst/>
          </a:prstGeom>
          <a:noFill/>
        </p:spPr>
        <p:txBody>
          <a:bodyPr wrap="square" lIns="22860" rIns="22860" tIns="16459" bIns="16459" anchor="ctr">
            <a:normAutofit/>
          </a:bodyPr>
          <a:lstStyle/>
          <a:p>
            <a:pPr algn="ctr"/>
            <a:r>
              <a:rPr sz="800" b="0">
                <a:solidFill>
                  <a:srgbClr val="6D625C"/>
                </a:solidFill>
                <a:latin typeface="Microsoft YaHei"/>
                <a:ea typeface="Microsoft YaHei"/>
                <a:cs typeface="Microsoft YaHei"/>
              </a:rPr>
              <a:t>第 11 页／共 20 页</a:t>
            </a:r>
          </a:p>
        </p:txBody>
      </p:sp>
      <p:sp>
        <p:nvSpPr>
          <p:cNvPr id="9" name="TextBox 8"/>
          <p:cNvSpPr txBox="1"/>
          <p:nvPr/>
        </p:nvSpPr>
        <p:spPr>
          <a:xfrm>
            <a:off x="566928" y="694944"/>
            <a:ext cx="10607040" cy="658368"/>
          </a:xfrm>
          <a:prstGeom prst="rect">
            <a:avLst/>
          </a:prstGeom>
          <a:noFill/>
        </p:spPr>
        <p:txBody>
          <a:bodyPr wrap="square" lIns="22860" rIns="22860" tIns="16459" bIns="16459" anchor="ctr">
            <a:normAutofit/>
          </a:bodyPr>
          <a:lstStyle/>
          <a:p>
            <a:pPr algn="l"/>
            <a:r>
              <a:rPr sz="2500" b="1">
                <a:solidFill>
                  <a:srgbClr val="681412"/>
                </a:solidFill>
                <a:latin typeface="Microsoft YaHei"/>
                <a:ea typeface="Microsoft YaHei"/>
                <a:cs typeface="Microsoft YaHei"/>
              </a:rPr>
              <a:t>教育领域的风险</a:t>
            </a:r>
          </a:p>
        </p:txBody>
      </p:sp>
      <p:sp>
        <p:nvSpPr>
          <p:cNvPr id="10" name="Rectangle 9"/>
          <p:cNvSpPr/>
          <p:nvPr/>
        </p:nvSpPr>
        <p:spPr>
          <a:xfrm>
            <a:off x="603504" y="138988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Rectangle 10"/>
          <p:cNvSpPr/>
          <p:nvPr/>
        </p:nvSpPr>
        <p:spPr>
          <a:xfrm>
            <a:off x="822960" y="1828800"/>
            <a:ext cx="3657600" cy="2880360"/>
          </a:xfrm>
          <a:prstGeom prst="rect">
            <a:avLst/>
          </a:prstGeom>
          <a:solidFill>
            <a:srgbClr val="FFFDF8"/>
          </a:solidFill>
          <a:ln w="12700">
            <a:solidFill>
              <a:srgbClr val="25506E"/>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Rectangle 11"/>
          <p:cNvSpPr/>
          <p:nvPr/>
        </p:nvSpPr>
        <p:spPr>
          <a:xfrm>
            <a:off x="1143000" y="2176272"/>
            <a:ext cx="3017520" cy="1627632"/>
          </a:xfrm>
          <a:prstGeom prst="rect">
            <a:avLst/>
          </a:prstGeom>
          <a:solidFill>
            <a:srgbClr val="DBE8EF"/>
          </a:solidFill>
          <a:ln w="12700">
            <a:solidFill>
              <a:srgbClr val="25506E"/>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3" name="TextBox 12"/>
          <p:cNvSpPr txBox="1"/>
          <p:nvPr/>
        </p:nvSpPr>
        <p:spPr>
          <a:xfrm>
            <a:off x="1499616" y="2761488"/>
            <a:ext cx="2331720" cy="329184"/>
          </a:xfrm>
          <a:prstGeom prst="rect">
            <a:avLst/>
          </a:prstGeom>
          <a:noFill/>
        </p:spPr>
        <p:txBody>
          <a:bodyPr wrap="square" lIns="22860" rIns="22860" tIns="16459" bIns="16459" anchor="ctr">
            <a:normAutofit/>
          </a:bodyPr>
          <a:lstStyle/>
          <a:p>
            <a:pPr algn="ctr"/>
            <a:r>
              <a:rPr sz="2300" b="1">
                <a:solidFill>
                  <a:srgbClr val="16364D"/>
                </a:solidFill>
                <a:latin typeface="Microsoft YaHei"/>
                <a:ea typeface="Microsoft YaHei"/>
                <a:cs typeface="Microsoft YaHei"/>
              </a:rPr>
              <a:t>课堂与教材</a:t>
            </a:r>
          </a:p>
        </p:txBody>
      </p:sp>
      <p:sp>
        <p:nvSpPr>
          <p:cNvPr id="14" name="Rectangle 13"/>
          <p:cNvSpPr/>
          <p:nvPr/>
        </p:nvSpPr>
        <p:spPr>
          <a:xfrm>
            <a:off x="1874519" y="3822191"/>
            <a:ext cx="1554480" cy="182880"/>
          </a:xfrm>
          <a:prstGeom prst="rect">
            <a:avLst/>
          </a:prstGeom>
          <a:solidFill>
            <a:srgbClr val="6D625C"/>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5" name="Rectangle 14"/>
          <p:cNvSpPr/>
          <p:nvPr/>
        </p:nvSpPr>
        <p:spPr>
          <a:xfrm>
            <a:off x="1572768" y="4041648"/>
            <a:ext cx="2157984" cy="164592"/>
          </a:xfrm>
          <a:prstGeom prst="rect">
            <a:avLst/>
          </a:prstGeom>
          <a:solidFill>
            <a:srgbClr val="6D625C"/>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6" name="Rounded Rectangle 15"/>
          <p:cNvSpPr/>
          <p:nvPr/>
        </p:nvSpPr>
        <p:spPr>
          <a:xfrm>
            <a:off x="4892040" y="1828800"/>
            <a:ext cx="2788920" cy="1234440"/>
          </a:xfrm>
          <a:prstGeom prst="roundRect">
            <a:avLst/>
          </a:prstGeom>
          <a:solidFill>
            <a:srgbClr val="DBE8EF"/>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7" name="TextBox 16"/>
          <p:cNvSpPr txBox="1"/>
          <p:nvPr/>
        </p:nvSpPr>
        <p:spPr>
          <a:xfrm>
            <a:off x="5074920" y="1993392"/>
            <a:ext cx="1371600" cy="182880"/>
          </a:xfrm>
          <a:prstGeom prst="rect">
            <a:avLst/>
          </a:prstGeom>
          <a:noFill/>
        </p:spPr>
        <p:txBody>
          <a:bodyPr wrap="square" lIns="22860" rIns="22860" tIns="16459" bIns="16459" anchor="ctr">
            <a:normAutofit/>
          </a:bodyPr>
          <a:lstStyle/>
          <a:p>
            <a:pPr algn="ctr"/>
            <a:r>
              <a:rPr sz="1200" b="1">
                <a:solidFill>
                  <a:srgbClr val="16364D"/>
                </a:solidFill>
                <a:latin typeface="Microsoft YaHei"/>
                <a:ea typeface="Microsoft YaHei"/>
                <a:cs typeface="Microsoft YaHei"/>
              </a:rPr>
              <a:t>主阵地</a:t>
            </a:r>
          </a:p>
        </p:txBody>
      </p:sp>
      <p:sp>
        <p:nvSpPr>
          <p:cNvPr id="18" name="TextBox 17"/>
          <p:cNvSpPr txBox="1"/>
          <p:nvPr/>
        </p:nvSpPr>
        <p:spPr>
          <a:xfrm>
            <a:off x="5074920" y="2286000"/>
            <a:ext cx="2377440" cy="493776"/>
          </a:xfrm>
          <a:prstGeom prst="rect">
            <a:avLst/>
          </a:prstGeom>
          <a:noFill/>
        </p:spPr>
        <p:txBody>
          <a:bodyPr wrap="square" lIns="22860" rIns="22860" tIns="16459" bIns="16459" anchor="t">
            <a:normAutofit/>
          </a:bodyPr>
          <a:lstStyle/>
          <a:p>
            <a:pPr algn="l"/>
            <a:r>
              <a:rPr sz="1080" b="0">
                <a:solidFill>
                  <a:srgbClr val="251F1E"/>
                </a:solidFill>
                <a:latin typeface="Microsoft YaHei"/>
                <a:ea typeface="Microsoft YaHei"/>
                <a:cs typeface="Microsoft YaHei"/>
              </a:rPr>
              <a:t>教育是立德树人的主阵地，课程教材直接关系培养什么人、怎样培养人、为谁培养人。</a:t>
            </a:r>
          </a:p>
        </p:txBody>
      </p:sp>
      <p:sp>
        <p:nvSpPr>
          <p:cNvPr id="19" name="Rounded Rectangle 18"/>
          <p:cNvSpPr/>
          <p:nvPr/>
        </p:nvSpPr>
        <p:spPr>
          <a:xfrm>
            <a:off x="8019288" y="1828800"/>
            <a:ext cx="2788920" cy="123444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0" name="TextBox 19"/>
          <p:cNvSpPr txBox="1"/>
          <p:nvPr/>
        </p:nvSpPr>
        <p:spPr>
          <a:xfrm>
            <a:off x="8202167" y="1993392"/>
            <a:ext cx="1371600" cy="182880"/>
          </a:xfrm>
          <a:prstGeom prst="rect">
            <a:avLst/>
          </a:prstGeom>
          <a:noFill/>
        </p:spPr>
        <p:txBody>
          <a:bodyPr wrap="square" lIns="22860" rIns="22860" tIns="16459" bIns="16459" anchor="ctr">
            <a:normAutofit/>
          </a:bodyPr>
          <a:lstStyle/>
          <a:p>
            <a:pPr algn="ctr"/>
            <a:r>
              <a:rPr sz="1200" b="1">
                <a:solidFill>
                  <a:srgbClr val="16364D"/>
                </a:solidFill>
                <a:latin typeface="Microsoft YaHei"/>
                <a:ea typeface="Microsoft YaHei"/>
                <a:cs typeface="Microsoft YaHei"/>
              </a:rPr>
              <a:t>风险点</a:t>
            </a:r>
          </a:p>
        </p:txBody>
      </p:sp>
      <p:sp>
        <p:nvSpPr>
          <p:cNvPr id="21" name="TextBox 20"/>
          <p:cNvSpPr txBox="1"/>
          <p:nvPr/>
        </p:nvSpPr>
        <p:spPr>
          <a:xfrm>
            <a:off x="8202167" y="2286000"/>
            <a:ext cx="2377440" cy="493776"/>
          </a:xfrm>
          <a:prstGeom prst="rect">
            <a:avLst/>
          </a:prstGeom>
          <a:noFill/>
        </p:spPr>
        <p:txBody>
          <a:bodyPr wrap="square" lIns="22860" rIns="22860" tIns="16459" bIns="16459" anchor="t">
            <a:normAutofit/>
          </a:bodyPr>
          <a:lstStyle/>
          <a:p>
            <a:pPr algn="l"/>
            <a:r>
              <a:rPr sz="1080" b="0">
                <a:solidFill>
                  <a:srgbClr val="251F1E"/>
                </a:solidFill>
                <a:latin typeface="Microsoft YaHei"/>
                <a:ea typeface="Microsoft YaHei"/>
                <a:cs typeface="Microsoft YaHei"/>
              </a:rPr>
              <a:t>教材内容、课堂表达和校园文化如果缺乏正确导向，青年价值观容易受片面信息影响。</a:t>
            </a:r>
          </a:p>
        </p:txBody>
      </p:sp>
      <p:sp>
        <p:nvSpPr>
          <p:cNvPr id="22" name="Rounded Rectangle 21"/>
          <p:cNvSpPr/>
          <p:nvPr/>
        </p:nvSpPr>
        <p:spPr>
          <a:xfrm>
            <a:off x="4892040" y="3474720"/>
            <a:ext cx="2788920" cy="1234440"/>
          </a:xfrm>
          <a:prstGeom prst="roundRect">
            <a:avLst/>
          </a:prstGeom>
          <a:solidFill>
            <a:srgbClr val="DBE8EF"/>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3" name="TextBox 22"/>
          <p:cNvSpPr txBox="1"/>
          <p:nvPr/>
        </p:nvSpPr>
        <p:spPr>
          <a:xfrm>
            <a:off x="5074920" y="3639312"/>
            <a:ext cx="1371600" cy="182880"/>
          </a:xfrm>
          <a:prstGeom prst="rect">
            <a:avLst/>
          </a:prstGeom>
          <a:noFill/>
        </p:spPr>
        <p:txBody>
          <a:bodyPr wrap="square" lIns="22860" rIns="22860" tIns="16459" bIns="16459" anchor="ctr">
            <a:normAutofit/>
          </a:bodyPr>
          <a:lstStyle/>
          <a:p>
            <a:pPr algn="ctr"/>
            <a:r>
              <a:rPr sz="1200" b="1">
                <a:solidFill>
                  <a:srgbClr val="16364D"/>
                </a:solidFill>
                <a:latin typeface="Microsoft YaHei"/>
                <a:ea typeface="Microsoft YaHei"/>
                <a:cs typeface="Microsoft YaHei"/>
              </a:rPr>
              <a:t>落实方向</a:t>
            </a:r>
          </a:p>
        </p:txBody>
      </p:sp>
      <p:sp>
        <p:nvSpPr>
          <p:cNvPr id="24" name="TextBox 23"/>
          <p:cNvSpPr txBox="1"/>
          <p:nvPr/>
        </p:nvSpPr>
        <p:spPr>
          <a:xfrm>
            <a:off x="5074920" y="3931920"/>
            <a:ext cx="2377440" cy="493776"/>
          </a:xfrm>
          <a:prstGeom prst="rect">
            <a:avLst/>
          </a:prstGeom>
          <a:noFill/>
        </p:spPr>
        <p:txBody>
          <a:bodyPr wrap="square" lIns="22860" rIns="22860" tIns="16459" bIns="16459" anchor="t">
            <a:normAutofit/>
          </a:bodyPr>
          <a:lstStyle/>
          <a:p>
            <a:pPr algn="l"/>
            <a:r>
              <a:rPr sz="1080" b="0">
                <a:solidFill>
                  <a:srgbClr val="251F1E"/>
                </a:solidFill>
                <a:latin typeface="Microsoft YaHei"/>
                <a:ea typeface="Microsoft YaHei"/>
                <a:cs typeface="Microsoft YaHei"/>
              </a:rPr>
              <a:t>推动习近平新时代中国特色社会主义思想进课程教材、进课堂、进学生头脑。</a:t>
            </a:r>
          </a:p>
        </p:txBody>
      </p:sp>
      <p:sp>
        <p:nvSpPr>
          <p:cNvPr id="25" name="Rounded Rectangle 24"/>
          <p:cNvSpPr/>
          <p:nvPr/>
        </p:nvSpPr>
        <p:spPr>
          <a:xfrm>
            <a:off x="8019288" y="3474720"/>
            <a:ext cx="2788920" cy="123444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6" name="TextBox 25"/>
          <p:cNvSpPr txBox="1"/>
          <p:nvPr/>
        </p:nvSpPr>
        <p:spPr>
          <a:xfrm>
            <a:off x="8202167" y="3639312"/>
            <a:ext cx="1371600" cy="182880"/>
          </a:xfrm>
          <a:prstGeom prst="rect">
            <a:avLst/>
          </a:prstGeom>
          <a:noFill/>
        </p:spPr>
        <p:txBody>
          <a:bodyPr wrap="square" lIns="22860" rIns="22860" tIns="16459" bIns="16459" anchor="ctr">
            <a:normAutofit/>
          </a:bodyPr>
          <a:lstStyle/>
          <a:p>
            <a:pPr algn="ctr"/>
            <a:r>
              <a:rPr sz="1200" b="1">
                <a:solidFill>
                  <a:srgbClr val="16364D"/>
                </a:solidFill>
                <a:latin typeface="Microsoft YaHei"/>
                <a:ea typeface="Microsoft YaHei"/>
                <a:cs typeface="Microsoft YaHei"/>
              </a:rPr>
              <a:t>案例进入</a:t>
            </a:r>
          </a:p>
        </p:txBody>
      </p:sp>
      <p:sp>
        <p:nvSpPr>
          <p:cNvPr id="27" name="TextBox 26"/>
          <p:cNvSpPr txBox="1"/>
          <p:nvPr/>
        </p:nvSpPr>
        <p:spPr>
          <a:xfrm>
            <a:off x="8202167" y="3931920"/>
            <a:ext cx="2377440" cy="493776"/>
          </a:xfrm>
          <a:prstGeom prst="rect">
            <a:avLst/>
          </a:prstGeom>
          <a:noFill/>
        </p:spPr>
        <p:txBody>
          <a:bodyPr wrap="square" lIns="22860" rIns="22860" tIns="16459" bIns="16459" anchor="t">
            <a:normAutofit/>
          </a:bodyPr>
          <a:lstStyle/>
          <a:p>
            <a:pPr algn="l"/>
            <a:r>
              <a:rPr sz="1080" b="0">
                <a:solidFill>
                  <a:srgbClr val="251F1E"/>
                </a:solidFill>
                <a:latin typeface="Microsoft YaHei"/>
                <a:ea typeface="Microsoft YaHei"/>
                <a:cs typeface="Microsoft YaHei"/>
              </a:rPr>
              <a:t>用乡村振兴调研、社区治理观察、红色场馆研学等方式理解理论。</a:t>
            </a:r>
          </a:p>
        </p:txBody>
      </p:sp>
      <p:sp>
        <p:nvSpPr>
          <p:cNvPr id="28" name="Rounded Rectangle 27"/>
          <p:cNvSpPr/>
          <p:nvPr/>
        </p:nvSpPr>
        <p:spPr>
          <a:xfrm>
            <a:off x="914400" y="5486400"/>
            <a:ext cx="10204704" cy="45720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9" name="TextBox 28"/>
          <p:cNvSpPr txBox="1"/>
          <p:nvPr/>
        </p:nvSpPr>
        <p:spPr>
          <a:xfrm>
            <a:off x="1097280" y="5614416"/>
            <a:ext cx="9802368" cy="128016"/>
          </a:xfrm>
          <a:prstGeom prst="rect">
            <a:avLst/>
          </a:prstGeom>
          <a:noFill/>
        </p:spPr>
        <p:txBody>
          <a:bodyPr wrap="square" lIns="22860" rIns="22860" tIns="16459" bIns="16459" anchor="ctr">
            <a:normAutofit/>
          </a:bodyPr>
          <a:lstStyle/>
          <a:p>
            <a:pPr algn="ctr"/>
            <a:r>
              <a:rPr sz="1280" b="1">
                <a:solidFill>
                  <a:srgbClr val="681412"/>
                </a:solidFill>
                <a:latin typeface="Microsoft YaHei"/>
                <a:ea typeface="Microsoft YaHei"/>
                <a:cs typeface="Microsoft YaHei"/>
              </a:rPr>
              <a:t>把理论讲深、讲透、讲活，关键是从真实问题进入。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2550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现实挑战</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12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学术与舆论领域</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Rounded Rectangle 10"/>
          <p:cNvSpPr/>
          <p:nvPr/>
        </p:nvSpPr>
        <p:spPr>
          <a:xfrm>
            <a:off x="868680" y="1874519"/>
            <a:ext cx="3063240" cy="150876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TextBox 11"/>
          <p:cNvSpPr txBox="1"/>
          <p:nvPr/>
        </p:nvSpPr>
        <p:spPr>
          <a:xfrm>
            <a:off x="1124712" y="2139696"/>
            <a:ext cx="2560320" cy="256032"/>
          </a:xfrm>
          <a:prstGeom prst="rect">
            <a:avLst/>
          </a:prstGeom>
          <a:noFill/>
        </p:spPr>
        <p:txBody>
          <a:bodyPr wrap="square" lIns="22860" rIns="22860" tIns="16459" bIns="16459" anchor="ctr">
            <a:normAutofit/>
          </a:bodyPr>
          <a:lstStyle/>
          <a:p>
            <a:pPr algn="ctr"/>
            <a:r>
              <a:rPr sz="1700" b="1">
                <a:solidFill>
                  <a:srgbClr val="16364D"/>
                </a:solidFill>
                <a:latin typeface="Microsoft YaHei"/>
                <a:ea typeface="Microsoft YaHei"/>
                <a:cs typeface="Microsoft YaHei"/>
              </a:rPr>
              <a:t>哲学社会科学</a:t>
            </a:r>
          </a:p>
        </p:txBody>
      </p:sp>
      <p:sp>
        <p:nvSpPr>
          <p:cNvPr id="13" name="TextBox 12"/>
          <p:cNvSpPr txBox="1"/>
          <p:nvPr/>
        </p:nvSpPr>
        <p:spPr>
          <a:xfrm>
            <a:off x="1325880" y="2651760"/>
            <a:ext cx="2157984" cy="292608"/>
          </a:xfrm>
          <a:prstGeom prst="rect">
            <a:avLst/>
          </a:prstGeom>
          <a:noFill/>
        </p:spPr>
        <p:txBody>
          <a:bodyPr wrap="square" lIns="22860" rIns="22860" tIns="16459" bIns="16459" anchor="ctr">
            <a:normAutofit/>
          </a:bodyPr>
          <a:lstStyle/>
          <a:p>
            <a:pPr algn="ctr"/>
            <a:r>
              <a:rPr sz="1250" b="1">
                <a:solidFill>
                  <a:srgbClr val="251F1E"/>
                </a:solidFill>
                <a:latin typeface="Microsoft YaHei"/>
                <a:ea typeface="Microsoft YaHei"/>
                <a:cs typeface="Microsoft YaHei"/>
              </a:rPr>
              <a:t>解释中国</a:t>
            </a:r>
          </a:p>
        </p:txBody>
      </p:sp>
      <p:sp>
        <p:nvSpPr>
          <p:cNvPr id="14" name="Rounded Rectangle 13"/>
          <p:cNvSpPr/>
          <p:nvPr/>
        </p:nvSpPr>
        <p:spPr>
          <a:xfrm>
            <a:off x="4617720" y="1874519"/>
            <a:ext cx="3063240" cy="1508760"/>
          </a:xfrm>
          <a:prstGeom prst="roundRect">
            <a:avLst/>
          </a:prstGeom>
          <a:solidFill>
            <a:srgbClr val="DBE8EF"/>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5" name="TextBox 14"/>
          <p:cNvSpPr txBox="1"/>
          <p:nvPr/>
        </p:nvSpPr>
        <p:spPr>
          <a:xfrm>
            <a:off x="4873752" y="2139696"/>
            <a:ext cx="2560320" cy="256032"/>
          </a:xfrm>
          <a:prstGeom prst="rect">
            <a:avLst/>
          </a:prstGeom>
          <a:noFill/>
        </p:spPr>
        <p:txBody>
          <a:bodyPr wrap="square" lIns="22860" rIns="22860" tIns="16459" bIns="16459" anchor="ctr">
            <a:normAutofit/>
          </a:bodyPr>
          <a:lstStyle/>
          <a:p>
            <a:pPr algn="ctr"/>
            <a:r>
              <a:rPr sz="1700" b="1">
                <a:solidFill>
                  <a:srgbClr val="16364D"/>
                </a:solidFill>
                <a:latin typeface="Microsoft YaHei"/>
                <a:ea typeface="Microsoft YaHei"/>
                <a:cs typeface="Microsoft YaHei"/>
              </a:rPr>
              <a:t>新闻舆论</a:t>
            </a:r>
          </a:p>
        </p:txBody>
      </p:sp>
      <p:sp>
        <p:nvSpPr>
          <p:cNvPr id="16" name="TextBox 15"/>
          <p:cNvSpPr txBox="1"/>
          <p:nvPr/>
        </p:nvSpPr>
        <p:spPr>
          <a:xfrm>
            <a:off x="5074920" y="2651760"/>
            <a:ext cx="2157984" cy="292608"/>
          </a:xfrm>
          <a:prstGeom prst="rect">
            <a:avLst/>
          </a:prstGeom>
          <a:noFill/>
        </p:spPr>
        <p:txBody>
          <a:bodyPr wrap="square" lIns="22860" rIns="22860" tIns="16459" bIns="16459" anchor="ctr">
            <a:normAutofit/>
          </a:bodyPr>
          <a:lstStyle/>
          <a:p>
            <a:pPr algn="ctr"/>
            <a:r>
              <a:rPr sz="1250" b="1">
                <a:solidFill>
                  <a:srgbClr val="251F1E"/>
                </a:solidFill>
                <a:latin typeface="Microsoft YaHei"/>
                <a:ea typeface="Microsoft YaHei"/>
                <a:cs typeface="Microsoft YaHei"/>
              </a:rPr>
              <a:t>凝聚共识</a:t>
            </a:r>
          </a:p>
        </p:txBody>
      </p:sp>
      <p:sp>
        <p:nvSpPr>
          <p:cNvPr id="17" name="Rounded Rectangle 16"/>
          <p:cNvSpPr/>
          <p:nvPr/>
        </p:nvSpPr>
        <p:spPr>
          <a:xfrm>
            <a:off x="8366759" y="1874519"/>
            <a:ext cx="3063240" cy="150876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8" name="TextBox 17"/>
          <p:cNvSpPr txBox="1"/>
          <p:nvPr/>
        </p:nvSpPr>
        <p:spPr>
          <a:xfrm>
            <a:off x="8622791" y="2139696"/>
            <a:ext cx="2560320" cy="256032"/>
          </a:xfrm>
          <a:prstGeom prst="rect">
            <a:avLst/>
          </a:prstGeom>
          <a:noFill/>
        </p:spPr>
        <p:txBody>
          <a:bodyPr wrap="square" lIns="22860" rIns="22860" tIns="16459" bIns="16459" anchor="ctr">
            <a:normAutofit/>
          </a:bodyPr>
          <a:lstStyle/>
          <a:p>
            <a:pPr algn="ctr"/>
            <a:r>
              <a:rPr sz="1700" b="1">
                <a:solidFill>
                  <a:srgbClr val="16364D"/>
                </a:solidFill>
                <a:latin typeface="Microsoft YaHei"/>
                <a:ea typeface="Microsoft YaHei"/>
                <a:cs typeface="Microsoft YaHei"/>
              </a:rPr>
              <a:t>文化表达</a:t>
            </a:r>
          </a:p>
        </p:txBody>
      </p:sp>
      <p:sp>
        <p:nvSpPr>
          <p:cNvPr id="19" name="TextBox 18"/>
          <p:cNvSpPr txBox="1"/>
          <p:nvPr/>
        </p:nvSpPr>
        <p:spPr>
          <a:xfrm>
            <a:off x="8823959" y="2651760"/>
            <a:ext cx="2157984" cy="292608"/>
          </a:xfrm>
          <a:prstGeom prst="rect">
            <a:avLst/>
          </a:prstGeom>
          <a:noFill/>
        </p:spPr>
        <p:txBody>
          <a:bodyPr wrap="square" lIns="22860" rIns="22860" tIns="16459" bIns="16459" anchor="ctr">
            <a:normAutofit/>
          </a:bodyPr>
          <a:lstStyle/>
          <a:p>
            <a:pPr algn="ctr"/>
            <a:r>
              <a:rPr sz="1250" b="1">
                <a:solidFill>
                  <a:srgbClr val="251F1E"/>
                </a:solidFill>
                <a:latin typeface="Microsoft YaHei"/>
                <a:ea typeface="Microsoft YaHei"/>
                <a:cs typeface="Microsoft YaHei"/>
              </a:rPr>
              <a:t>引导价值</a:t>
            </a:r>
          </a:p>
        </p:txBody>
      </p:sp>
      <p:sp>
        <p:nvSpPr>
          <p:cNvPr id="20" name="Rounded Rectangle 19"/>
          <p:cNvSpPr/>
          <p:nvPr/>
        </p:nvSpPr>
        <p:spPr>
          <a:xfrm>
            <a:off x="914400" y="4041648"/>
            <a:ext cx="10277856" cy="141732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1" name="TextBox 20"/>
          <p:cNvSpPr txBox="1"/>
          <p:nvPr/>
        </p:nvSpPr>
        <p:spPr>
          <a:xfrm>
            <a:off x="1143000" y="4297680"/>
            <a:ext cx="9747504" cy="1024128"/>
          </a:xfrm>
          <a:prstGeom prst="rect">
            <a:avLst/>
          </a:prstGeom>
          <a:noFill/>
        </p:spPr>
        <p:txBody>
          <a:bodyPr wrap="square" lIns="22860" rIns="22860" tIns="16459" bIns="16459" anchor="t">
            <a:normAutofit/>
          </a:bodyPr>
          <a:lstStyle/>
          <a:p>
            <a:pPr algn="l">
              <a:spcAft>
                <a:spcPts val="400"/>
              </a:spcAft>
            </a:pPr>
            <a:r>
              <a:rPr sz="1019">
                <a:solidFill>
                  <a:srgbClr val="251F1E"/>
                </a:solidFill>
                <a:latin typeface="Microsoft YaHei"/>
                <a:ea typeface="Microsoft YaHei"/>
                <a:cs typeface="Microsoft YaHei"/>
              </a:rPr>
              <a:t>• 哲学社会科学和新闻舆论都承担解释中国、凝聚共识、引导价值的重要功能。</a:t>
            </a:r>
          </a:p>
          <a:p>
            <a:pPr algn="l">
              <a:spcAft>
                <a:spcPts val="400"/>
              </a:spcAft>
            </a:pPr>
            <a:r>
              <a:rPr sz="1019">
                <a:solidFill>
                  <a:srgbClr val="251F1E"/>
                </a:solidFill>
                <a:latin typeface="Microsoft YaHei"/>
                <a:ea typeface="Microsoft YaHei"/>
                <a:cs typeface="Microsoft YaHei"/>
              </a:rPr>
              <a:t>• 学术研究不能脱离中国实际，新闻舆论不能为了流量牺牲事实和责任，文化表达不能消解正确价值导向。</a:t>
            </a:r>
          </a:p>
          <a:p>
            <a:pPr algn="l">
              <a:spcAft>
                <a:spcPts val="400"/>
              </a:spcAft>
            </a:pPr>
            <a:r>
              <a:rPr sz="1019">
                <a:solidFill>
                  <a:srgbClr val="251F1E"/>
                </a:solidFill>
                <a:latin typeface="Microsoft YaHei"/>
                <a:ea typeface="Microsoft YaHei"/>
                <a:cs typeface="Microsoft YaHei"/>
              </a:rPr>
              <a:t>• 工作要求：讲好中国故事、传播好中国声音，建设具有强大凝聚力和引领力的社会主义意识形态。</a:t>
            </a:r>
          </a:p>
          <a:p>
            <a:pPr algn="l">
              <a:spcAft>
                <a:spcPts val="400"/>
              </a:spcAft>
            </a:pPr>
            <a:r>
              <a:rPr sz="1019">
                <a:solidFill>
                  <a:srgbClr val="251F1E"/>
                </a:solidFill>
                <a:latin typeface="Microsoft YaHei"/>
                <a:ea typeface="Microsoft YaHei"/>
                <a:cs typeface="Microsoft YaHei"/>
              </a:rPr>
              <a:t>• 对比主流媒体报道和自媒体夸张标题，可以看出事实来源、证据呈现、表达责任和价值导向的差异。</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制度与实践</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13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宪法与党章保障</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Rectangle 10"/>
          <p:cNvSpPr/>
          <p:nvPr/>
        </p:nvSpPr>
        <p:spPr>
          <a:xfrm>
            <a:off x="914400" y="1828800"/>
            <a:ext cx="9875520" cy="310896"/>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2" name="TextBox 11"/>
          <p:cNvSpPr txBox="1"/>
          <p:nvPr/>
        </p:nvSpPr>
        <p:spPr>
          <a:xfrm>
            <a:off x="4809744" y="1901952"/>
            <a:ext cx="2084831" cy="292608"/>
          </a:xfrm>
          <a:prstGeom prst="rect">
            <a:avLst/>
          </a:prstGeom>
          <a:noFill/>
        </p:spPr>
        <p:txBody>
          <a:bodyPr wrap="square" lIns="22860" rIns="22860" tIns="16459" bIns="16459" anchor="ctr">
            <a:normAutofit/>
          </a:bodyPr>
          <a:lstStyle/>
          <a:p>
            <a:pPr algn="ctr"/>
            <a:r>
              <a:rPr sz="1350" b="1">
                <a:solidFill>
                  <a:srgbClr val="FFFDF8"/>
                </a:solidFill>
                <a:latin typeface="Microsoft YaHei"/>
                <a:ea typeface="Microsoft YaHei"/>
                <a:cs typeface="Microsoft YaHei"/>
              </a:rPr>
              <a:t>制度保障</a:t>
            </a:r>
          </a:p>
        </p:txBody>
      </p:sp>
      <p:sp>
        <p:nvSpPr>
          <p:cNvPr id="13" name="Rectangle 12"/>
          <p:cNvSpPr/>
          <p:nvPr/>
        </p:nvSpPr>
        <p:spPr>
          <a:xfrm>
            <a:off x="1234440" y="2331720"/>
            <a:ext cx="1417320" cy="1993392"/>
          </a:xfrm>
          <a:prstGeom prst="rect">
            <a:avLst/>
          </a:prstGeom>
          <a:solidFill>
            <a:srgbClr val="FFFDF8"/>
          </a:solidFill>
          <a:ln w="12700">
            <a:solidFill>
              <a:srgbClr val="2F6B58"/>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4" name="TextBox 13"/>
          <p:cNvSpPr txBox="1"/>
          <p:nvPr/>
        </p:nvSpPr>
        <p:spPr>
          <a:xfrm>
            <a:off x="1380744" y="2999232"/>
            <a:ext cx="1124712" cy="256032"/>
          </a:xfrm>
          <a:prstGeom prst="rect">
            <a:avLst/>
          </a:prstGeom>
          <a:noFill/>
        </p:spPr>
        <p:txBody>
          <a:bodyPr wrap="square" lIns="22860" rIns="22860" tIns="16459" bIns="16459" anchor="ctr">
            <a:normAutofit/>
          </a:bodyPr>
          <a:lstStyle/>
          <a:p>
            <a:pPr algn="ctr"/>
            <a:r>
              <a:rPr sz="1500" b="1">
                <a:solidFill>
                  <a:srgbClr val="1E4B3D"/>
                </a:solidFill>
                <a:latin typeface="Microsoft YaHei"/>
                <a:ea typeface="Microsoft YaHei"/>
                <a:cs typeface="Microsoft YaHei"/>
              </a:rPr>
              <a:t>党的领导</a:t>
            </a:r>
          </a:p>
        </p:txBody>
      </p:sp>
      <p:sp>
        <p:nvSpPr>
          <p:cNvPr id="15" name="Rectangle 14"/>
          <p:cNvSpPr/>
          <p:nvPr/>
        </p:nvSpPr>
        <p:spPr>
          <a:xfrm>
            <a:off x="3566160" y="2331720"/>
            <a:ext cx="1417320" cy="1993392"/>
          </a:xfrm>
          <a:prstGeom prst="rect">
            <a:avLst/>
          </a:prstGeom>
          <a:solidFill>
            <a:srgbClr val="FFFDF8"/>
          </a:solidFill>
          <a:ln w="12700">
            <a:solidFill>
              <a:srgbClr val="2F6B58"/>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6" name="TextBox 15"/>
          <p:cNvSpPr txBox="1"/>
          <p:nvPr/>
        </p:nvSpPr>
        <p:spPr>
          <a:xfrm>
            <a:off x="3712463" y="2999232"/>
            <a:ext cx="1124712" cy="256032"/>
          </a:xfrm>
          <a:prstGeom prst="rect">
            <a:avLst/>
          </a:prstGeom>
          <a:noFill/>
        </p:spPr>
        <p:txBody>
          <a:bodyPr wrap="square" lIns="22860" rIns="22860" tIns="16459" bIns="16459" anchor="ctr">
            <a:normAutofit/>
          </a:bodyPr>
          <a:lstStyle/>
          <a:p>
            <a:pPr algn="ctr"/>
            <a:r>
              <a:rPr sz="1500" b="1">
                <a:solidFill>
                  <a:srgbClr val="1E4B3D"/>
                </a:solidFill>
                <a:latin typeface="Microsoft YaHei"/>
                <a:ea typeface="Microsoft YaHei"/>
                <a:cs typeface="Microsoft YaHei"/>
              </a:rPr>
              <a:t>理论指导</a:t>
            </a:r>
          </a:p>
        </p:txBody>
      </p:sp>
      <p:sp>
        <p:nvSpPr>
          <p:cNvPr id="17" name="Rectangle 16"/>
          <p:cNvSpPr/>
          <p:nvPr/>
        </p:nvSpPr>
        <p:spPr>
          <a:xfrm>
            <a:off x="5897879" y="2331720"/>
            <a:ext cx="1417320" cy="1993392"/>
          </a:xfrm>
          <a:prstGeom prst="rect">
            <a:avLst/>
          </a:prstGeom>
          <a:solidFill>
            <a:srgbClr val="FFFDF8"/>
          </a:solidFill>
          <a:ln w="12700">
            <a:solidFill>
              <a:srgbClr val="2F6B58"/>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8" name="TextBox 17"/>
          <p:cNvSpPr txBox="1"/>
          <p:nvPr/>
        </p:nvSpPr>
        <p:spPr>
          <a:xfrm>
            <a:off x="6044183" y="2999232"/>
            <a:ext cx="1124712" cy="256032"/>
          </a:xfrm>
          <a:prstGeom prst="rect">
            <a:avLst/>
          </a:prstGeom>
          <a:noFill/>
        </p:spPr>
        <p:txBody>
          <a:bodyPr wrap="square" lIns="22860" rIns="22860" tIns="16459" bIns="16459" anchor="ctr">
            <a:normAutofit/>
          </a:bodyPr>
          <a:lstStyle/>
          <a:p>
            <a:pPr algn="ctr"/>
            <a:r>
              <a:rPr sz="1500" b="1">
                <a:solidFill>
                  <a:srgbClr val="1E4B3D"/>
                </a:solidFill>
                <a:latin typeface="Microsoft YaHei"/>
                <a:ea typeface="Microsoft YaHei"/>
                <a:cs typeface="Microsoft YaHei"/>
              </a:rPr>
              <a:t>责任落实</a:t>
            </a:r>
          </a:p>
        </p:txBody>
      </p:sp>
      <p:sp>
        <p:nvSpPr>
          <p:cNvPr id="19" name="Rectangle 18"/>
          <p:cNvSpPr/>
          <p:nvPr/>
        </p:nvSpPr>
        <p:spPr>
          <a:xfrm>
            <a:off x="8229600" y="2331720"/>
            <a:ext cx="1417320" cy="1993392"/>
          </a:xfrm>
          <a:prstGeom prst="rect">
            <a:avLst/>
          </a:prstGeom>
          <a:solidFill>
            <a:srgbClr val="FFFDF8"/>
          </a:solidFill>
          <a:ln w="12700">
            <a:solidFill>
              <a:srgbClr val="2F6B58"/>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0" name="TextBox 19"/>
          <p:cNvSpPr txBox="1"/>
          <p:nvPr/>
        </p:nvSpPr>
        <p:spPr>
          <a:xfrm>
            <a:off x="8375904" y="2999232"/>
            <a:ext cx="1124712" cy="256032"/>
          </a:xfrm>
          <a:prstGeom prst="rect">
            <a:avLst/>
          </a:prstGeom>
          <a:noFill/>
        </p:spPr>
        <p:txBody>
          <a:bodyPr wrap="square" lIns="22860" rIns="22860" tIns="16459" bIns="16459" anchor="ctr">
            <a:normAutofit/>
          </a:bodyPr>
          <a:lstStyle/>
          <a:p>
            <a:pPr algn="ctr"/>
            <a:r>
              <a:rPr sz="1500" b="1">
                <a:solidFill>
                  <a:srgbClr val="1E4B3D"/>
                </a:solidFill>
                <a:latin typeface="Microsoft YaHei"/>
                <a:ea typeface="Microsoft YaHei"/>
                <a:cs typeface="Microsoft YaHei"/>
              </a:rPr>
              <a:t>阵地管理</a:t>
            </a:r>
          </a:p>
        </p:txBody>
      </p:sp>
      <p:sp>
        <p:nvSpPr>
          <p:cNvPr id="21" name="Rectangle 20"/>
          <p:cNvSpPr/>
          <p:nvPr/>
        </p:nvSpPr>
        <p:spPr>
          <a:xfrm>
            <a:off x="914400" y="4370832"/>
            <a:ext cx="9875520" cy="310896"/>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2" name="Rounded Rectangle 21"/>
          <p:cNvSpPr/>
          <p:nvPr/>
        </p:nvSpPr>
        <p:spPr>
          <a:xfrm>
            <a:off x="914400" y="5047488"/>
            <a:ext cx="9875520" cy="713232"/>
          </a:xfrm>
          <a:prstGeom prst="roundRect">
            <a:avLst/>
          </a:prstGeom>
          <a:solidFill>
            <a:srgbClr val="DDEAE2"/>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3" name="TextBox 22"/>
          <p:cNvSpPr txBox="1"/>
          <p:nvPr/>
        </p:nvSpPr>
        <p:spPr>
          <a:xfrm>
            <a:off x="1133856" y="5166360"/>
            <a:ext cx="9381744" cy="877824"/>
          </a:xfrm>
          <a:prstGeom prst="rect">
            <a:avLst/>
          </a:prstGeom>
          <a:noFill/>
        </p:spPr>
        <p:txBody>
          <a:bodyPr wrap="square" lIns="22860" rIns="22860" tIns="16459" bIns="16459" anchor="t">
            <a:normAutofit/>
          </a:bodyPr>
          <a:lstStyle/>
          <a:p>
            <a:pPr algn="l">
              <a:spcAft>
                <a:spcPts val="400"/>
              </a:spcAft>
            </a:pPr>
            <a:r>
              <a:rPr sz="860">
                <a:solidFill>
                  <a:srgbClr val="251F1E"/>
                </a:solidFill>
                <a:latin typeface="Microsoft YaHei"/>
                <a:ea typeface="Microsoft YaHei"/>
                <a:cs typeface="Microsoft YaHei"/>
              </a:rPr>
              <a:t>• 制度保障使意识形态工作有明确依据、有责任主体、有实践抓手。</a:t>
            </a:r>
          </a:p>
          <a:p>
            <a:pPr algn="l">
              <a:spcAft>
                <a:spcPts val="400"/>
              </a:spcAft>
            </a:pPr>
            <a:r>
              <a:rPr sz="860">
                <a:solidFill>
                  <a:srgbClr val="251F1E"/>
                </a:solidFill>
                <a:latin typeface="Microsoft YaHei"/>
                <a:ea typeface="Microsoft YaHei"/>
                <a:cs typeface="Microsoft YaHei"/>
              </a:rPr>
              <a:t>• 坚持党的领导，坚持以习近平新时代中国特色社会主义思想为指导，是新时代各项事业发展的根本要求。</a:t>
            </a:r>
          </a:p>
          <a:p>
            <a:pPr algn="l">
              <a:spcAft>
                <a:spcPts val="400"/>
              </a:spcAft>
            </a:pPr>
            <a:r>
              <a:rPr sz="860">
                <a:solidFill>
                  <a:srgbClr val="251F1E"/>
                </a:solidFill>
                <a:latin typeface="Microsoft YaHei"/>
                <a:ea typeface="Microsoft YaHei"/>
                <a:cs typeface="Microsoft YaHei"/>
              </a:rPr>
              <a:t>• 实践体现：意识形态工作责任制要求各类阵地守土有责、守土负责、守土尽责。</a:t>
            </a:r>
          </a:p>
          <a:p>
            <a:pPr algn="l">
              <a:spcAft>
                <a:spcPts val="400"/>
              </a:spcAft>
            </a:pPr>
            <a:r>
              <a:rPr sz="860">
                <a:solidFill>
                  <a:srgbClr val="251F1E"/>
                </a:solidFill>
                <a:latin typeface="Microsoft YaHei"/>
                <a:ea typeface="Microsoft YaHei"/>
                <a:cs typeface="Microsoft YaHei"/>
              </a:rPr>
              <a:t>• 高校讲座论坛、校园公众号、社团活动、教材选用和课堂教学都属于育人阵地，需要体现正确方向。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制度与实践</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14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教育领域落地</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Oval 10"/>
          <p:cNvSpPr/>
          <p:nvPr/>
        </p:nvSpPr>
        <p:spPr>
          <a:xfrm>
            <a:off x="1965960" y="1965960"/>
            <a:ext cx="1234440" cy="1234440"/>
          </a:xfrm>
          <a:prstGeom prst="ellipse">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TextBox 11"/>
          <p:cNvSpPr txBox="1"/>
          <p:nvPr/>
        </p:nvSpPr>
        <p:spPr>
          <a:xfrm>
            <a:off x="2267712" y="2423160"/>
            <a:ext cx="640080" cy="292608"/>
          </a:xfrm>
          <a:prstGeom prst="rect">
            <a:avLst/>
          </a:prstGeom>
          <a:noFill/>
        </p:spPr>
        <p:txBody>
          <a:bodyPr wrap="square" lIns="22860" rIns="22860" tIns="16459" bIns="16459" anchor="ctr">
            <a:normAutofit/>
          </a:bodyPr>
          <a:lstStyle/>
          <a:p>
            <a:pPr algn="ctr"/>
            <a:r>
              <a:rPr sz="1400" b="1">
                <a:solidFill>
                  <a:srgbClr val="FFFDF8"/>
                </a:solidFill>
                <a:latin typeface="Microsoft YaHei"/>
                <a:ea typeface="Microsoft YaHei"/>
                <a:cs typeface="Microsoft YaHei"/>
              </a:rPr>
              <a:t>教材</a:t>
            </a:r>
          </a:p>
        </p:txBody>
      </p:sp>
      <p:sp>
        <p:nvSpPr>
          <p:cNvPr id="13" name="Oval 12"/>
          <p:cNvSpPr/>
          <p:nvPr/>
        </p:nvSpPr>
        <p:spPr>
          <a:xfrm>
            <a:off x="5029200" y="1965960"/>
            <a:ext cx="1234440" cy="1234440"/>
          </a:xfrm>
          <a:prstGeom prst="ellipse">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4" name="TextBox 13"/>
          <p:cNvSpPr txBox="1"/>
          <p:nvPr/>
        </p:nvSpPr>
        <p:spPr>
          <a:xfrm>
            <a:off x="5330952" y="2423160"/>
            <a:ext cx="640080" cy="292608"/>
          </a:xfrm>
          <a:prstGeom prst="rect">
            <a:avLst/>
          </a:prstGeom>
          <a:noFill/>
        </p:spPr>
        <p:txBody>
          <a:bodyPr wrap="square" lIns="22860" rIns="22860" tIns="16459" bIns="16459" anchor="ctr">
            <a:normAutofit/>
          </a:bodyPr>
          <a:lstStyle/>
          <a:p>
            <a:pPr algn="ctr"/>
            <a:r>
              <a:rPr sz="1400" b="1">
                <a:solidFill>
                  <a:srgbClr val="FFFDF8"/>
                </a:solidFill>
                <a:latin typeface="Microsoft YaHei"/>
                <a:ea typeface="Microsoft YaHei"/>
                <a:cs typeface="Microsoft YaHei"/>
              </a:rPr>
              <a:t>课堂</a:t>
            </a:r>
          </a:p>
        </p:txBody>
      </p:sp>
      <p:sp>
        <p:nvSpPr>
          <p:cNvPr id="15" name="Oval 14"/>
          <p:cNvSpPr/>
          <p:nvPr/>
        </p:nvSpPr>
        <p:spPr>
          <a:xfrm>
            <a:off x="8092440" y="1965960"/>
            <a:ext cx="1234440" cy="1234440"/>
          </a:xfrm>
          <a:prstGeom prst="ellipse">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6" name="TextBox 15"/>
          <p:cNvSpPr txBox="1"/>
          <p:nvPr/>
        </p:nvSpPr>
        <p:spPr>
          <a:xfrm>
            <a:off x="8394192" y="2423160"/>
            <a:ext cx="640080" cy="292608"/>
          </a:xfrm>
          <a:prstGeom prst="rect">
            <a:avLst/>
          </a:prstGeom>
          <a:noFill/>
        </p:spPr>
        <p:txBody>
          <a:bodyPr wrap="square" lIns="22860" rIns="22860" tIns="16459" bIns="16459" anchor="ctr">
            <a:normAutofit/>
          </a:bodyPr>
          <a:lstStyle/>
          <a:p>
            <a:pPr algn="ctr"/>
            <a:r>
              <a:rPr sz="1400" b="1">
                <a:solidFill>
                  <a:srgbClr val="FFFDF8"/>
                </a:solidFill>
                <a:latin typeface="Microsoft YaHei"/>
                <a:ea typeface="Microsoft YaHei"/>
                <a:cs typeface="Microsoft YaHei"/>
              </a:rPr>
              <a:t>实践</a:t>
            </a:r>
          </a:p>
        </p:txBody>
      </p:sp>
      <p:sp>
        <p:nvSpPr>
          <p:cNvPr id="17" name="Oval 16"/>
          <p:cNvSpPr/>
          <p:nvPr/>
        </p:nvSpPr>
        <p:spPr>
          <a:xfrm>
            <a:off x="5029200" y="4343400"/>
            <a:ext cx="1234440" cy="1234440"/>
          </a:xfrm>
          <a:prstGeom prst="ellipse">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8" name="TextBox 17"/>
          <p:cNvSpPr txBox="1"/>
          <p:nvPr/>
        </p:nvSpPr>
        <p:spPr>
          <a:xfrm>
            <a:off x="5330952" y="4800600"/>
            <a:ext cx="640080" cy="292608"/>
          </a:xfrm>
          <a:prstGeom prst="rect">
            <a:avLst/>
          </a:prstGeom>
          <a:noFill/>
        </p:spPr>
        <p:txBody>
          <a:bodyPr wrap="square" lIns="22860" rIns="22860" tIns="16459" bIns="16459" anchor="ctr">
            <a:normAutofit/>
          </a:bodyPr>
          <a:lstStyle/>
          <a:p>
            <a:pPr algn="ctr"/>
            <a:r>
              <a:rPr sz="1400" b="1">
                <a:solidFill>
                  <a:srgbClr val="FFFDF8"/>
                </a:solidFill>
                <a:latin typeface="Microsoft YaHei"/>
                <a:ea typeface="Microsoft YaHei"/>
                <a:cs typeface="Microsoft YaHei"/>
              </a:rPr>
              <a:t>反馈</a:t>
            </a:r>
          </a:p>
        </p:txBody>
      </p:sp>
      <p:cxnSp>
        <p:nvCxnSpPr>
          <p:cNvPr id="19" name="Connector 18"/>
          <p:cNvCxnSpPr/>
          <p:nvPr/>
        </p:nvCxnSpPr>
        <p:spPr>
          <a:xfrm>
            <a:off x="3200400" y="2578608"/>
            <a:ext cx="1828800" cy="0"/>
          </a:xfrm>
          <a:prstGeom prst="line">
            <a:avLst/>
          </a:prstGeom>
          <a:ln w="25400">
            <a:solidFill>
              <a:srgbClr val="2F6B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63640" y="2578608"/>
            <a:ext cx="1828800" cy="0"/>
          </a:xfrm>
          <a:prstGeom prst="line">
            <a:avLst/>
          </a:prstGeom>
          <a:ln w="25400">
            <a:solidFill>
              <a:srgbClr val="2F6B5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650992" y="3200400"/>
            <a:ext cx="3054096" cy="1143000"/>
          </a:xfrm>
          <a:prstGeom prst="line">
            <a:avLst/>
          </a:prstGeom>
          <a:ln w="25400">
            <a:solidFill>
              <a:srgbClr val="2F6B5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578608" y="3200400"/>
            <a:ext cx="2450592" cy="1755648"/>
          </a:xfrm>
          <a:prstGeom prst="line">
            <a:avLst/>
          </a:prstGeom>
          <a:ln w="25400">
            <a:solidFill>
              <a:srgbClr val="2F6B5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68680" y="5394960"/>
            <a:ext cx="10351008" cy="62179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4" name="TextBox 23"/>
          <p:cNvSpPr txBox="1"/>
          <p:nvPr/>
        </p:nvSpPr>
        <p:spPr>
          <a:xfrm>
            <a:off x="1097280" y="5532120"/>
            <a:ext cx="9875520" cy="402336"/>
          </a:xfrm>
          <a:prstGeom prst="rect">
            <a:avLst/>
          </a:prstGeom>
          <a:noFill/>
        </p:spPr>
        <p:txBody>
          <a:bodyPr wrap="square" lIns="22860" rIns="22860" tIns="16459" bIns="16459" anchor="t">
            <a:normAutofit/>
          </a:bodyPr>
          <a:lstStyle/>
          <a:p>
            <a:pPr algn="ctr"/>
            <a:r>
              <a:rPr sz="1250" b="1">
                <a:solidFill>
                  <a:srgbClr val="1E4B3D"/>
                </a:solidFill>
                <a:latin typeface="Microsoft YaHei"/>
                <a:ea typeface="Microsoft YaHei"/>
                <a:cs typeface="Microsoft YaHei"/>
              </a:rPr>
              <a:t>教育领域落实指导地位，关键是把理论讲深、讲透、讲活。</a:t>
            </a:r>
          </a:p>
        </p:txBody>
      </p:sp>
      <p:sp>
        <p:nvSpPr>
          <p:cNvPr id="25" name="Rounded Rectangle 24"/>
          <p:cNvSpPr/>
          <p:nvPr/>
        </p:nvSpPr>
        <p:spPr>
          <a:xfrm>
            <a:off x="868680" y="3584448"/>
            <a:ext cx="3749039" cy="1051560"/>
          </a:xfrm>
          <a:prstGeom prst="roundRect">
            <a:avLst/>
          </a:prstGeom>
          <a:solidFill>
            <a:srgbClr val="DDEAE2"/>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6" name="TextBox 25"/>
          <p:cNvSpPr txBox="1"/>
          <p:nvPr/>
        </p:nvSpPr>
        <p:spPr>
          <a:xfrm>
            <a:off x="1078992" y="3749039"/>
            <a:ext cx="3291840" cy="804672"/>
          </a:xfrm>
          <a:prstGeom prst="rect">
            <a:avLst/>
          </a:prstGeom>
          <a:noFill/>
        </p:spPr>
        <p:txBody>
          <a:bodyPr wrap="square" lIns="22860" rIns="22860" tIns="16459" bIns="16459" anchor="t">
            <a:normAutofit/>
          </a:bodyPr>
          <a:lstStyle/>
          <a:p>
            <a:pPr algn="l">
              <a:spcAft>
                <a:spcPts val="400"/>
              </a:spcAft>
            </a:pPr>
            <a:r>
              <a:rPr sz="940">
                <a:solidFill>
                  <a:srgbClr val="251F1E"/>
                </a:solidFill>
                <a:latin typeface="Microsoft YaHei"/>
                <a:ea typeface="Microsoft YaHei"/>
                <a:cs typeface="Microsoft YaHei"/>
              </a:rPr>
              <a:t>• “大思政课”强调把思政小课堂同社会大课堂结合起来，让理论学习连接真实中国、真实问题和真实实践。</a:t>
            </a:r>
          </a:p>
          <a:p>
            <a:pPr algn="l">
              <a:spcAft>
                <a:spcPts val="400"/>
              </a:spcAft>
            </a:pPr>
            <a:r>
              <a:rPr sz="940">
                <a:solidFill>
                  <a:srgbClr val="251F1E"/>
                </a:solidFill>
                <a:latin typeface="Microsoft YaHei"/>
                <a:ea typeface="Microsoft YaHei"/>
                <a:cs typeface="Microsoft YaHei"/>
              </a:rPr>
              <a:t>• 具体做法：统编教材、思政课程、课程思政、社会实践、网络学习资源共同构成立体化育人体系。</a:t>
            </a:r>
          </a:p>
        </p:txBody>
      </p:sp>
      <p:sp>
        <p:nvSpPr>
          <p:cNvPr id="27" name="Rounded Rectangle 26"/>
          <p:cNvSpPr/>
          <p:nvPr/>
        </p:nvSpPr>
        <p:spPr>
          <a:xfrm>
            <a:off x="7543800" y="3584448"/>
            <a:ext cx="3675887" cy="105156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8" name="TextBox 27"/>
          <p:cNvSpPr txBox="1"/>
          <p:nvPr/>
        </p:nvSpPr>
        <p:spPr>
          <a:xfrm>
            <a:off x="7754112" y="3749039"/>
            <a:ext cx="3218688" cy="438912"/>
          </a:xfrm>
          <a:prstGeom prst="rect">
            <a:avLst/>
          </a:prstGeom>
          <a:noFill/>
        </p:spPr>
        <p:txBody>
          <a:bodyPr wrap="square" lIns="22860" rIns="22860" tIns="16459" bIns="16459" anchor="t">
            <a:normAutofit/>
          </a:bodyPr>
          <a:lstStyle/>
          <a:p>
            <a:pPr algn="l">
              <a:spcAft>
                <a:spcPts val="400"/>
              </a:spcAft>
            </a:pPr>
            <a:r>
              <a:rPr sz="1050">
                <a:solidFill>
                  <a:srgbClr val="251F1E"/>
                </a:solidFill>
                <a:latin typeface="Microsoft YaHei"/>
                <a:ea typeface="Microsoft YaHei"/>
                <a:cs typeface="Microsoft YaHei"/>
              </a:rPr>
              <a:t>• 围绕“中国式现代化中的青年责任”组织资料查找、政策梳理、案例展示和小组讨论。</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制度与实践</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15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新闻舆论领域</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Chevron 10"/>
          <p:cNvSpPr/>
          <p:nvPr/>
        </p:nvSpPr>
        <p:spPr>
          <a:xfrm>
            <a:off x="822960" y="2148840"/>
            <a:ext cx="2331720" cy="1078992"/>
          </a:xfrm>
          <a:prstGeom prst="chevron">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TextBox 11"/>
          <p:cNvSpPr txBox="1"/>
          <p:nvPr/>
        </p:nvSpPr>
        <p:spPr>
          <a:xfrm>
            <a:off x="1133856" y="2514600"/>
            <a:ext cx="1353312" cy="292608"/>
          </a:xfrm>
          <a:prstGeom prst="rect">
            <a:avLst/>
          </a:prstGeom>
          <a:noFill/>
        </p:spPr>
        <p:txBody>
          <a:bodyPr wrap="square" lIns="22860" rIns="22860" tIns="16459" bIns="16459" anchor="ctr">
            <a:normAutofit/>
          </a:bodyPr>
          <a:lstStyle/>
          <a:p>
            <a:pPr algn="ctr"/>
            <a:r>
              <a:rPr sz="1320" b="1">
                <a:solidFill>
                  <a:srgbClr val="FFFDF8"/>
                </a:solidFill>
                <a:latin typeface="Microsoft YaHei"/>
                <a:ea typeface="Microsoft YaHei"/>
                <a:cs typeface="Microsoft YaHei"/>
              </a:rPr>
              <a:t>事实核验</a:t>
            </a:r>
          </a:p>
        </p:txBody>
      </p:sp>
      <p:sp>
        <p:nvSpPr>
          <p:cNvPr id="13" name="Chevron 12"/>
          <p:cNvSpPr/>
          <p:nvPr/>
        </p:nvSpPr>
        <p:spPr>
          <a:xfrm>
            <a:off x="3566160" y="2148840"/>
            <a:ext cx="2331720" cy="1078992"/>
          </a:xfrm>
          <a:prstGeom prst="chevron">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4" name="TextBox 13"/>
          <p:cNvSpPr txBox="1"/>
          <p:nvPr/>
        </p:nvSpPr>
        <p:spPr>
          <a:xfrm>
            <a:off x="3877056" y="2514600"/>
            <a:ext cx="1353312" cy="292608"/>
          </a:xfrm>
          <a:prstGeom prst="rect">
            <a:avLst/>
          </a:prstGeom>
          <a:noFill/>
        </p:spPr>
        <p:txBody>
          <a:bodyPr wrap="square" lIns="22860" rIns="22860" tIns="16459" bIns="16459" anchor="ctr">
            <a:normAutofit/>
          </a:bodyPr>
          <a:lstStyle/>
          <a:p>
            <a:pPr algn="ctr"/>
            <a:r>
              <a:rPr sz="1320" b="1">
                <a:solidFill>
                  <a:srgbClr val="FFFDF8"/>
                </a:solidFill>
                <a:latin typeface="Microsoft YaHei"/>
                <a:ea typeface="Microsoft YaHei"/>
                <a:cs typeface="Microsoft YaHei"/>
              </a:rPr>
              <a:t>权威发布</a:t>
            </a:r>
          </a:p>
        </p:txBody>
      </p:sp>
      <p:sp>
        <p:nvSpPr>
          <p:cNvPr id="15" name="Chevron 14"/>
          <p:cNvSpPr/>
          <p:nvPr/>
        </p:nvSpPr>
        <p:spPr>
          <a:xfrm>
            <a:off x="6309360" y="2148840"/>
            <a:ext cx="2331720" cy="1078992"/>
          </a:xfrm>
          <a:prstGeom prst="chevron">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6" name="TextBox 15"/>
          <p:cNvSpPr txBox="1"/>
          <p:nvPr/>
        </p:nvSpPr>
        <p:spPr>
          <a:xfrm>
            <a:off x="6620256" y="2514600"/>
            <a:ext cx="1353312" cy="292608"/>
          </a:xfrm>
          <a:prstGeom prst="rect">
            <a:avLst/>
          </a:prstGeom>
          <a:noFill/>
        </p:spPr>
        <p:txBody>
          <a:bodyPr wrap="square" lIns="22860" rIns="22860" tIns="16459" bIns="16459" anchor="ctr">
            <a:normAutofit/>
          </a:bodyPr>
          <a:lstStyle/>
          <a:p>
            <a:pPr algn="ctr"/>
            <a:r>
              <a:rPr sz="1320" b="1">
                <a:solidFill>
                  <a:srgbClr val="FFFDF8"/>
                </a:solidFill>
                <a:latin typeface="Microsoft YaHei"/>
                <a:ea typeface="Microsoft YaHei"/>
                <a:cs typeface="Microsoft YaHei"/>
              </a:rPr>
              <a:t>融合传播</a:t>
            </a:r>
          </a:p>
        </p:txBody>
      </p:sp>
      <p:sp>
        <p:nvSpPr>
          <p:cNvPr id="17" name="Chevron 16"/>
          <p:cNvSpPr/>
          <p:nvPr/>
        </p:nvSpPr>
        <p:spPr>
          <a:xfrm>
            <a:off x="9052560" y="2148840"/>
            <a:ext cx="2331720" cy="1078992"/>
          </a:xfrm>
          <a:prstGeom prst="chevron">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8" name="TextBox 17"/>
          <p:cNvSpPr txBox="1"/>
          <p:nvPr/>
        </p:nvSpPr>
        <p:spPr>
          <a:xfrm>
            <a:off x="9363456" y="2514600"/>
            <a:ext cx="1353312" cy="292608"/>
          </a:xfrm>
          <a:prstGeom prst="rect">
            <a:avLst/>
          </a:prstGeom>
          <a:noFill/>
        </p:spPr>
        <p:txBody>
          <a:bodyPr wrap="square" lIns="22860" rIns="22860" tIns="16459" bIns="16459" anchor="ctr">
            <a:normAutofit/>
          </a:bodyPr>
          <a:lstStyle/>
          <a:p>
            <a:pPr algn="ctr"/>
            <a:r>
              <a:rPr sz="1320" b="1">
                <a:solidFill>
                  <a:srgbClr val="FFFDF8"/>
                </a:solidFill>
                <a:latin typeface="Microsoft YaHei"/>
                <a:ea typeface="Microsoft YaHei"/>
                <a:cs typeface="Microsoft YaHei"/>
              </a:rPr>
              <a:t>青年触达</a:t>
            </a:r>
          </a:p>
        </p:txBody>
      </p:sp>
      <p:sp>
        <p:nvSpPr>
          <p:cNvPr id="19" name="Rounded Rectangle 18"/>
          <p:cNvSpPr/>
          <p:nvPr/>
        </p:nvSpPr>
        <p:spPr>
          <a:xfrm>
            <a:off x="868680" y="3913632"/>
            <a:ext cx="4983480" cy="137160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0" name="TextBox 19"/>
          <p:cNvSpPr txBox="1"/>
          <p:nvPr/>
        </p:nvSpPr>
        <p:spPr>
          <a:xfrm>
            <a:off x="1078992" y="4160520"/>
            <a:ext cx="4443984" cy="1005840"/>
          </a:xfrm>
          <a:prstGeom prst="rect">
            <a:avLst/>
          </a:prstGeom>
          <a:noFill/>
        </p:spPr>
        <p:txBody>
          <a:bodyPr wrap="square" lIns="22860" rIns="22860" tIns="16459" bIns="16459" anchor="t">
            <a:normAutofit/>
          </a:bodyPr>
          <a:lstStyle/>
          <a:p>
            <a:pPr algn="l">
              <a:spcAft>
                <a:spcPts val="400"/>
              </a:spcAft>
            </a:pPr>
            <a:r>
              <a:rPr sz="1000">
                <a:solidFill>
                  <a:srgbClr val="251F1E"/>
                </a:solidFill>
                <a:latin typeface="Microsoft YaHei"/>
                <a:ea typeface="Microsoft YaHei"/>
                <a:cs typeface="Microsoft YaHei"/>
              </a:rPr>
              <a:t>• 新闻舆论工作关系人心和力量凝聚，正确导向能稳定预期、凝聚共识、服务大局。</a:t>
            </a:r>
          </a:p>
          <a:p>
            <a:pPr algn="l">
              <a:spcAft>
                <a:spcPts val="400"/>
              </a:spcAft>
            </a:pPr>
            <a:r>
              <a:rPr sz="1000">
                <a:solidFill>
                  <a:srgbClr val="251F1E"/>
                </a:solidFill>
                <a:latin typeface="Microsoft YaHei"/>
                <a:ea typeface="Microsoft YaHei"/>
                <a:cs typeface="Microsoft YaHei"/>
              </a:rPr>
              <a:t>• 主流媒体要提高传播力、引导力、影响力、公信力，让权威内容更及时、更清楚、更贴近青年。</a:t>
            </a:r>
          </a:p>
        </p:txBody>
      </p:sp>
      <p:sp>
        <p:nvSpPr>
          <p:cNvPr id="21" name="Rounded Rectangle 20"/>
          <p:cNvSpPr/>
          <p:nvPr/>
        </p:nvSpPr>
        <p:spPr>
          <a:xfrm>
            <a:off x="6172200" y="3913632"/>
            <a:ext cx="4983480" cy="1371600"/>
          </a:xfrm>
          <a:prstGeom prst="roundRect">
            <a:avLst/>
          </a:prstGeom>
          <a:solidFill>
            <a:srgbClr val="DDEAE2"/>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2" name="TextBox 21"/>
          <p:cNvSpPr txBox="1"/>
          <p:nvPr/>
        </p:nvSpPr>
        <p:spPr>
          <a:xfrm>
            <a:off x="6382512" y="4160520"/>
            <a:ext cx="4443984" cy="1005840"/>
          </a:xfrm>
          <a:prstGeom prst="rect">
            <a:avLst/>
          </a:prstGeom>
          <a:noFill/>
        </p:spPr>
        <p:txBody>
          <a:bodyPr wrap="square" lIns="22860" rIns="22860" tIns="16459" bIns="16459" anchor="t">
            <a:normAutofit/>
          </a:bodyPr>
          <a:lstStyle/>
          <a:p>
            <a:pPr algn="l">
              <a:spcAft>
                <a:spcPts val="400"/>
              </a:spcAft>
            </a:pPr>
            <a:r>
              <a:rPr sz="1000">
                <a:solidFill>
                  <a:srgbClr val="251F1E"/>
                </a:solidFill>
                <a:latin typeface="Microsoft YaHei"/>
                <a:ea typeface="Microsoft YaHei"/>
                <a:cs typeface="Microsoft YaHei"/>
              </a:rPr>
              <a:t>• 实践方式：主题报道、政策解读、权威辟谣、媒体融合、短视频传播都可以成为正面引导的重要形式。</a:t>
            </a:r>
          </a:p>
          <a:p>
            <a:pPr algn="l">
              <a:spcAft>
                <a:spcPts val="400"/>
              </a:spcAft>
            </a:pPr>
            <a:r>
              <a:rPr sz="1000">
                <a:solidFill>
                  <a:srgbClr val="251F1E"/>
                </a:solidFill>
                <a:latin typeface="Microsoft YaHei"/>
                <a:ea typeface="Microsoft YaHei"/>
                <a:cs typeface="Microsoft YaHei"/>
              </a:rPr>
              <a:t>• “学习强国”等平台通过文章、视频、专题课程和答题学习，把理论学习转化为日常化资源。</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制度与实践</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16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学术与文化领域</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Rounded Rectangle 10"/>
          <p:cNvSpPr/>
          <p:nvPr/>
        </p:nvSpPr>
        <p:spPr>
          <a:xfrm>
            <a:off x="777240" y="1828800"/>
            <a:ext cx="2267712" cy="196596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Rectangle 11"/>
          <p:cNvSpPr/>
          <p:nvPr/>
        </p:nvSpPr>
        <p:spPr>
          <a:xfrm>
            <a:off x="996695" y="2103120"/>
            <a:ext cx="1828800" cy="804672"/>
          </a:xfrm>
          <a:prstGeom prst="rect">
            <a:avLst/>
          </a:prstGeom>
          <a:solidFill>
            <a:srgbClr val="EFE1BC"/>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3" name="TextBox 12"/>
          <p:cNvSpPr txBox="1"/>
          <p:nvPr/>
        </p:nvSpPr>
        <p:spPr>
          <a:xfrm>
            <a:off x="1106424" y="3127248"/>
            <a:ext cx="1609344" cy="292608"/>
          </a:xfrm>
          <a:prstGeom prst="rect">
            <a:avLst/>
          </a:prstGeom>
          <a:noFill/>
        </p:spPr>
        <p:txBody>
          <a:bodyPr wrap="square" lIns="22860" rIns="22860" tIns="16459" bIns="16459" anchor="ctr">
            <a:normAutofit/>
          </a:bodyPr>
          <a:lstStyle/>
          <a:p>
            <a:pPr algn="ctr"/>
            <a:r>
              <a:rPr sz="1450" b="1">
                <a:solidFill>
                  <a:srgbClr val="1E4B3D"/>
                </a:solidFill>
                <a:latin typeface="Microsoft YaHei"/>
                <a:ea typeface="Microsoft YaHei"/>
                <a:cs typeface="Microsoft YaHei"/>
              </a:rPr>
              <a:t>先进文化</a:t>
            </a:r>
          </a:p>
        </p:txBody>
      </p:sp>
      <p:sp>
        <p:nvSpPr>
          <p:cNvPr id="14" name="Rounded Rectangle 13"/>
          <p:cNvSpPr/>
          <p:nvPr/>
        </p:nvSpPr>
        <p:spPr>
          <a:xfrm>
            <a:off x="3566160" y="1828800"/>
            <a:ext cx="2267712" cy="1965960"/>
          </a:xfrm>
          <a:prstGeom prst="roundRect">
            <a:avLst/>
          </a:prstGeom>
          <a:solidFill>
            <a:srgbClr val="DDEAE2"/>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5" name="Rectangle 14"/>
          <p:cNvSpPr/>
          <p:nvPr/>
        </p:nvSpPr>
        <p:spPr>
          <a:xfrm>
            <a:off x="3785615" y="2103120"/>
            <a:ext cx="1828800" cy="804672"/>
          </a:xfrm>
          <a:prstGeom prst="rect">
            <a:avLst/>
          </a:prstGeom>
          <a:solidFill>
            <a:srgbClr val="EFE1BC"/>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6" name="TextBox 15"/>
          <p:cNvSpPr txBox="1"/>
          <p:nvPr/>
        </p:nvSpPr>
        <p:spPr>
          <a:xfrm>
            <a:off x="3895344" y="3127248"/>
            <a:ext cx="1609344" cy="292608"/>
          </a:xfrm>
          <a:prstGeom prst="rect">
            <a:avLst/>
          </a:prstGeom>
          <a:noFill/>
        </p:spPr>
        <p:txBody>
          <a:bodyPr wrap="square" lIns="22860" rIns="22860" tIns="16459" bIns="16459" anchor="ctr">
            <a:normAutofit/>
          </a:bodyPr>
          <a:lstStyle/>
          <a:p>
            <a:pPr algn="ctr"/>
            <a:r>
              <a:rPr sz="1450" b="1">
                <a:solidFill>
                  <a:srgbClr val="1E4B3D"/>
                </a:solidFill>
                <a:latin typeface="Microsoft YaHei"/>
                <a:ea typeface="Microsoft YaHei"/>
                <a:cs typeface="Microsoft YaHei"/>
              </a:rPr>
              <a:t>革命文化</a:t>
            </a:r>
          </a:p>
        </p:txBody>
      </p:sp>
      <p:sp>
        <p:nvSpPr>
          <p:cNvPr id="17" name="Rounded Rectangle 16"/>
          <p:cNvSpPr/>
          <p:nvPr/>
        </p:nvSpPr>
        <p:spPr>
          <a:xfrm>
            <a:off x="6355079" y="1828800"/>
            <a:ext cx="2267712" cy="196596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8" name="Rectangle 17"/>
          <p:cNvSpPr/>
          <p:nvPr/>
        </p:nvSpPr>
        <p:spPr>
          <a:xfrm>
            <a:off x="6574536" y="2103120"/>
            <a:ext cx="1828800" cy="804672"/>
          </a:xfrm>
          <a:prstGeom prst="rect">
            <a:avLst/>
          </a:prstGeom>
          <a:solidFill>
            <a:srgbClr val="F0D8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9" name="TextBox 18"/>
          <p:cNvSpPr txBox="1"/>
          <p:nvPr/>
        </p:nvSpPr>
        <p:spPr>
          <a:xfrm>
            <a:off x="6684264" y="3127248"/>
            <a:ext cx="1609344" cy="292608"/>
          </a:xfrm>
          <a:prstGeom prst="rect">
            <a:avLst/>
          </a:prstGeom>
          <a:noFill/>
        </p:spPr>
        <p:txBody>
          <a:bodyPr wrap="square" lIns="22860" rIns="22860" tIns="16459" bIns="16459" anchor="ctr">
            <a:normAutofit/>
          </a:bodyPr>
          <a:lstStyle/>
          <a:p>
            <a:pPr algn="ctr"/>
            <a:r>
              <a:rPr sz="1450" b="1">
                <a:solidFill>
                  <a:srgbClr val="1E4B3D"/>
                </a:solidFill>
                <a:latin typeface="Microsoft YaHei"/>
                <a:ea typeface="Microsoft YaHei"/>
                <a:cs typeface="Microsoft YaHei"/>
              </a:rPr>
              <a:t>传统文化</a:t>
            </a:r>
          </a:p>
        </p:txBody>
      </p:sp>
      <p:sp>
        <p:nvSpPr>
          <p:cNvPr id="20" name="Rounded Rectangle 19"/>
          <p:cNvSpPr/>
          <p:nvPr/>
        </p:nvSpPr>
        <p:spPr>
          <a:xfrm>
            <a:off x="9143999" y="1828800"/>
            <a:ext cx="2267712" cy="1965960"/>
          </a:xfrm>
          <a:prstGeom prst="roundRect">
            <a:avLst/>
          </a:prstGeom>
          <a:solidFill>
            <a:srgbClr val="DDEAE2"/>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1" name="Rectangle 20"/>
          <p:cNvSpPr/>
          <p:nvPr/>
        </p:nvSpPr>
        <p:spPr>
          <a:xfrm>
            <a:off x="9363455" y="2103120"/>
            <a:ext cx="1828800" cy="804672"/>
          </a:xfrm>
          <a:prstGeom prst="rect">
            <a:avLst/>
          </a:prstGeom>
          <a:solidFill>
            <a:srgbClr val="F0D8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22" name="TextBox 21"/>
          <p:cNvSpPr txBox="1"/>
          <p:nvPr/>
        </p:nvSpPr>
        <p:spPr>
          <a:xfrm>
            <a:off x="9473183" y="3127248"/>
            <a:ext cx="1609344" cy="292608"/>
          </a:xfrm>
          <a:prstGeom prst="rect">
            <a:avLst/>
          </a:prstGeom>
          <a:noFill/>
        </p:spPr>
        <p:txBody>
          <a:bodyPr wrap="square" lIns="22860" rIns="22860" tIns="16459" bIns="16459" anchor="ctr">
            <a:normAutofit/>
          </a:bodyPr>
          <a:lstStyle/>
          <a:p>
            <a:pPr algn="ctr"/>
            <a:r>
              <a:rPr sz="1450" b="1">
                <a:solidFill>
                  <a:srgbClr val="1E4B3D"/>
                </a:solidFill>
                <a:latin typeface="Microsoft YaHei"/>
                <a:ea typeface="Microsoft YaHei"/>
                <a:cs typeface="Microsoft YaHei"/>
              </a:rPr>
              <a:t>青年表达</a:t>
            </a:r>
          </a:p>
        </p:txBody>
      </p:sp>
      <p:sp>
        <p:nvSpPr>
          <p:cNvPr id="23" name="Rounded Rectangle 22"/>
          <p:cNvSpPr/>
          <p:nvPr/>
        </p:nvSpPr>
        <p:spPr>
          <a:xfrm>
            <a:off x="914400" y="4370832"/>
            <a:ext cx="10222992" cy="126187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4" name="TextBox 23"/>
          <p:cNvSpPr txBox="1"/>
          <p:nvPr/>
        </p:nvSpPr>
        <p:spPr>
          <a:xfrm>
            <a:off x="1152144" y="4590288"/>
            <a:ext cx="9674352" cy="969264"/>
          </a:xfrm>
          <a:prstGeom prst="rect">
            <a:avLst/>
          </a:prstGeom>
          <a:noFill/>
        </p:spPr>
        <p:txBody>
          <a:bodyPr wrap="square" lIns="22860" rIns="22860" tIns="16459" bIns="16459" anchor="t">
            <a:normAutofit/>
          </a:bodyPr>
          <a:lstStyle/>
          <a:p>
            <a:pPr algn="l">
              <a:spcAft>
                <a:spcPts val="400"/>
              </a:spcAft>
            </a:pPr>
            <a:r>
              <a:rPr sz="1000">
                <a:solidFill>
                  <a:srgbClr val="251F1E"/>
                </a:solidFill>
                <a:latin typeface="Microsoft YaHei"/>
                <a:ea typeface="Microsoft YaHei"/>
                <a:cs typeface="Microsoft YaHei"/>
              </a:rPr>
              <a:t>• 学术和文化建设要以中国实际为研究起点，以社会主义核心价值观为引领。</a:t>
            </a:r>
          </a:p>
          <a:p>
            <a:pPr algn="l">
              <a:spcAft>
                <a:spcPts val="400"/>
              </a:spcAft>
            </a:pPr>
            <a:r>
              <a:rPr sz="1000">
                <a:solidFill>
                  <a:srgbClr val="251F1E"/>
                </a:solidFill>
                <a:latin typeface="Microsoft YaHei"/>
                <a:ea typeface="Microsoft YaHei"/>
                <a:cs typeface="Microsoft YaHei"/>
              </a:rPr>
              <a:t>• 文化建设不仅要防止低俗化、媚俗化、过度娱乐化，更要创造有思想深度、精神高度和审美质量的作品。</a:t>
            </a:r>
          </a:p>
          <a:p>
            <a:pPr algn="l">
              <a:spcAft>
                <a:spcPts val="400"/>
              </a:spcAft>
            </a:pPr>
            <a:r>
              <a:rPr sz="1000">
                <a:solidFill>
                  <a:srgbClr val="251F1E"/>
                </a:solidFill>
                <a:latin typeface="Microsoft YaHei"/>
                <a:ea typeface="Microsoft YaHei"/>
                <a:cs typeface="Microsoft YaHei"/>
              </a:rPr>
              <a:t>• 实践方向：发展社会主义先进文化，弘扬革命文化，传承中华优秀传统文化，增强文化自信。</a:t>
            </a:r>
          </a:p>
          <a:p>
            <a:pPr algn="l">
              <a:spcAft>
                <a:spcPts val="400"/>
              </a:spcAft>
            </a:pPr>
            <a:r>
              <a:rPr sz="1000">
                <a:solidFill>
                  <a:srgbClr val="251F1E"/>
                </a:solidFill>
                <a:latin typeface="Microsoft YaHei"/>
                <a:ea typeface="Microsoft YaHei"/>
                <a:cs typeface="Microsoft YaHei"/>
              </a:rPr>
              <a:t>• 文博节目、红色题材影视、非遗进校园、地方文化短视频，都能把价值表达和青年喜闻乐见的形式结合起来。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TextBox 5"/>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17 页／共 20 页</a:t>
            </a:r>
          </a:p>
        </p:txBody>
      </p:sp>
      <p:sp>
        <p:nvSpPr>
          <p:cNvPr id="7" name="TextBox 6"/>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视频页（1分钟以内）</a:t>
            </a:r>
          </a:p>
        </p:txBody>
      </p:sp>
      <p:sp>
        <p:nvSpPr>
          <p:cNvPr id="8" name="Rectangle 7"/>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9" name="Rounded Rectangle 8"/>
          <p:cNvSpPr/>
          <p:nvPr/>
        </p:nvSpPr>
        <p:spPr>
          <a:xfrm>
            <a:off x="777240" y="1828800"/>
            <a:ext cx="2267712" cy="19019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0" name="Rectangle 9"/>
          <p:cNvSpPr/>
          <p:nvPr/>
        </p:nvSpPr>
        <p:spPr>
          <a:xfrm>
            <a:off x="941832" y="2048256"/>
            <a:ext cx="1938528" cy="841248"/>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1" name="TextBox 10"/>
          <p:cNvSpPr txBox="1"/>
          <p:nvPr/>
        </p:nvSpPr>
        <p:spPr>
          <a:xfrm>
            <a:off x="1106424" y="3035808"/>
            <a:ext cx="1609344" cy="292608"/>
          </a:xfrm>
          <a:prstGeom prst="rect">
            <a:avLst/>
          </a:prstGeom>
          <a:noFill/>
        </p:spPr>
        <p:txBody>
          <a:bodyPr wrap="square" lIns="22860" rIns="22860" tIns="16459" bIns="16459" anchor="ctr">
            <a:normAutofit/>
          </a:bodyPr>
          <a:lstStyle/>
          <a:p>
            <a:pPr algn="ctr"/>
            <a:r>
              <a:rPr sz="1300" b="1">
                <a:solidFill>
                  <a:srgbClr val="681412"/>
                </a:solidFill>
                <a:latin typeface="Microsoft YaHei"/>
                <a:ea typeface="Microsoft YaHei"/>
                <a:cs typeface="Microsoft YaHei"/>
              </a:rPr>
              <a:t>开场</a:t>
            </a:r>
          </a:p>
        </p:txBody>
      </p:sp>
      <p:sp>
        <p:nvSpPr>
          <p:cNvPr id="12" name="TextBox 11"/>
          <p:cNvSpPr txBox="1"/>
          <p:nvPr/>
        </p:nvSpPr>
        <p:spPr>
          <a:xfrm>
            <a:off x="1161288" y="3310128"/>
            <a:ext cx="1481328" cy="292608"/>
          </a:xfrm>
          <a:prstGeom prst="rect">
            <a:avLst/>
          </a:prstGeom>
          <a:noFill/>
        </p:spPr>
        <p:txBody>
          <a:bodyPr wrap="square" lIns="22860" rIns="22860" tIns="16459" bIns="16459" anchor="ctr">
            <a:normAutofit/>
          </a:bodyPr>
          <a:lstStyle/>
          <a:p>
            <a:pPr algn="ctr"/>
            <a:r>
              <a:rPr sz="1080" b="0">
                <a:solidFill>
                  <a:srgbClr val="251F1E"/>
                </a:solidFill>
                <a:latin typeface="Microsoft YaHei"/>
                <a:ea typeface="Microsoft YaHei"/>
                <a:cs typeface="Microsoft YaHei"/>
              </a:rPr>
              <a:t>谣言扩散</a:t>
            </a:r>
          </a:p>
        </p:txBody>
      </p:sp>
      <p:sp>
        <p:nvSpPr>
          <p:cNvPr id="13" name="Rounded Rectangle 12"/>
          <p:cNvSpPr/>
          <p:nvPr/>
        </p:nvSpPr>
        <p:spPr>
          <a:xfrm>
            <a:off x="3566160" y="1828800"/>
            <a:ext cx="2267712" cy="19019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4" name="Rectangle 13"/>
          <p:cNvSpPr/>
          <p:nvPr/>
        </p:nvSpPr>
        <p:spPr>
          <a:xfrm>
            <a:off x="3730752" y="2048256"/>
            <a:ext cx="1938528" cy="841248"/>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5" name="TextBox 14"/>
          <p:cNvSpPr txBox="1"/>
          <p:nvPr/>
        </p:nvSpPr>
        <p:spPr>
          <a:xfrm>
            <a:off x="3895344" y="3035808"/>
            <a:ext cx="1609344" cy="292608"/>
          </a:xfrm>
          <a:prstGeom prst="rect">
            <a:avLst/>
          </a:prstGeom>
          <a:noFill/>
        </p:spPr>
        <p:txBody>
          <a:bodyPr wrap="square" lIns="22860" rIns="22860" tIns="16459" bIns="16459" anchor="ctr">
            <a:normAutofit/>
          </a:bodyPr>
          <a:lstStyle/>
          <a:p>
            <a:pPr algn="ctr"/>
            <a:r>
              <a:rPr sz="1300" b="1">
                <a:solidFill>
                  <a:srgbClr val="681412"/>
                </a:solidFill>
                <a:latin typeface="Microsoft YaHei"/>
                <a:ea typeface="Microsoft YaHei"/>
                <a:cs typeface="Microsoft YaHei"/>
              </a:rPr>
              <a:t>冲突</a:t>
            </a:r>
          </a:p>
        </p:txBody>
      </p:sp>
      <p:sp>
        <p:nvSpPr>
          <p:cNvPr id="16" name="TextBox 15"/>
          <p:cNvSpPr txBox="1"/>
          <p:nvPr/>
        </p:nvSpPr>
        <p:spPr>
          <a:xfrm>
            <a:off x="3950208" y="3310128"/>
            <a:ext cx="1481328" cy="292608"/>
          </a:xfrm>
          <a:prstGeom prst="rect">
            <a:avLst/>
          </a:prstGeom>
          <a:noFill/>
        </p:spPr>
        <p:txBody>
          <a:bodyPr wrap="square" lIns="22860" rIns="22860" tIns="16459" bIns="16459" anchor="ctr">
            <a:normAutofit/>
          </a:bodyPr>
          <a:lstStyle/>
          <a:p>
            <a:pPr algn="ctr"/>
            <a:r>
              <a:rPr sz="1080" b="0">
                <a:solidFill>
                  <a:srgbClr val="251F1E"/>
                </a:solidFill>
                <a:latin typeface="Microsoft YaHei"/>
                <a:ea typeface="Microsoft YaHei"/>
                <a:cs typeface="Microsoft YaHei"/>
              </a:rPr>
              <a:t>情绪对立</a:t>
            </a:r>
          </a:p>
        </p:txBody>
      </p:sp>
      <p:sp>
        <p:nvSpPr>
          <p:cNvPr id="17" name="Rounded Rectangle 16"/>
          <p:cNvSpPr/>
          <p:nvPr/>
        </p:nvSpPr>
        <p:spPr>
          <a:xfrm>
            <a:off x="6355079" y="1828800"/>
            <a:ext cx="2267712" cy="19019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8" name="Rectangle 17"/>
          <p:cNvSpPr/>
          <p:nvPr/>
        </p:nvSpPr>
        <p:spPr>
          <a:xfrm>
            <a:off x="6519671" y="2048256"/>
            <a:ext cx="1938528" cy="841248"/>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9" name="TextBox 18"/>
          <p:cNvSpPr txBox="1"/>
          <p:nvPr/>
        </p:nvSpPr>
        <p:spPr>
          <a:xfrm>
            <a:off x="6684264" y="3035808"/>
            <a:ext cx="1609344" cy="292608"/>
          </a:xfrm>
          <a:prstGeom prst="rect">
            <a:avLst/>
          </a:prstGeom>
          <a:noFill/>
        </p:spPr>
        <p:txBody>
          <a:bodyPr wrap="square" lIns="22860" rIns="22860" tIns="16459" bIns="16459" anchor="ctr">
            <a:normAutofit/>
          </a:bodyPr>
          <a:lstStyle/>
          <a:p>
            <a:pPr algn="ctr"/>
            <a:r>
              <a:rPr sz="1300" b="1">
                <a:solidFill>
                  <a:srgbClr val="1E4B3D"/>
                </a:solidFill>
                <a:latin typeface="Microsoft YaHei"/>
                <a:ea typeface="Microsoft YaHei"/>
                <a:cs typeface="Microsoft YaHei"/>
              </a:rPr>
              <a:t>转折</a:t>
            </a:r>
          </a:p>
        </p:txBody>
      </p:sp>
      <p:sp>
        <p:nvSpPr>
          <p:cNvPr id="20" name="TextBox 19"/>
          <p:cNvSpPr txBox="1"/>
          <p:nvPr/>
        </p:nvSpPr>
        <p:spPr>
          <a:xfrm>
            <a:off x="6739127" y="3310128"/>
            <a:ext cx="1481328" cy="292608"/>
          </a:xfrm>
          <a:prstGeom prst="rect">
            <a:avLst/>
          </a:prstGeom>
          <a:noFill/>
        </p:spPr>
        <p:txBody>
          <a:bodyPr wrap="square" lIns="22860" rIns="22860" tIns="16459" bIns="16459" anchor="ctr">
            <a:normAutofit/>
          </a:bodyPr>
          <a:lstStyle/>
          <a:p>
            <a:pPr algn="ctr"/>
            <a:r>
              <a:rPr sz="1080" b="0">
                <a:solidFill>
                  <a:srgbClr val="251F1E"/>
                </a:solidFill>
                <a:latin typeface="Microsoft YaHei"/>
                <a:ea typeface="Microsoft YaHei"/>
                <a:cs typeface="Microsoft YaHei"/>
              </a:rPr>
              <a:t>权威核验</a:t>
            </a:r>
          </a:p>
        </p:txBody>
      </p:sp>
      <p:sp>
        <p:nvSpPr>
          <p:cNvPr id="21" name="Rounded Rectangle 20"/>
          <p:cNvSpPr/>
          <p:nvPr/>
        </p:nvSpPr>
        <p:spPr>
          <a:xfrm>
            <a:off x="9143999" y="1828800"/>
            <a:ext cx="2267712" cy="19019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2" name="Rectangle 21"/>
          <p:cNvSpPr/>
          <p:nvPr/>
        </p:nvSpPr>
        <p:spPr>
          <a:xfrm>
            <a:off x="9308591" y="2048256"/>
            <a:ext cx="1938528" cy="841248"/>
          </a:xfrm>
          <a:prstGeom prst="rect">
            <a:avLst/>
          </a:prstGeom>
          <a:solidFill>
            <a:srgbClr val="2F6B58"/>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3" name="TextBox 22"/>
          <p:cNvSpPr txBox="1"/>
          <p:nvPr/>
        </p:nvSpPr>
        <p:spPr>
          <a:xfrm>
            <a:off x="9473183" y="3035808"/>
            <a:ext cx="1609344" cy="292608"/>
          </a:xfrm>
          <a:prstGeom prst="rect">
            <a:avLst/>
          </a:prstGeom>
          <a:noFill/>
        </p:spPr>
        <p:txBody>
          <a:bodyPr wrap="square" lIns="22860" rIns="22860" tIns="16459" bIns="16459" anchor="ctr">
            <a:normAutofit/>
          </a:bodyPr>
          <a:lstStyle/>
          <a:p>
            <a:pPr algn="ctr"/>
            <a:r>
              <a:rPr sz="1300" b="1">
                <a:solidFill>
                  <a:srgbClr val="1E4B3D"/>
                </a:solidFill>
                <a:latin typeface="Microsoft YaHei"/>
                <a:ea typeface="Microsoft YaHei"/>
                <a:cs typeface="Microsoft YaHei"/>
              </a:rPr>
              <a:t>收束</a:t>
            </a:r>
          </a:p>
        </p:txBody>
      </p:sp>
      <p:sp>
        <p:nvSpPr>
          <p:cNvPr id="24" name="TextBox 23"/>
          <p:cNvSpPr txBox="1"/>
          <p:nvPr/>
        </p:nvSpPr>
        <p:spPr>
          <a:xfrm>
            <a:off x="9528047" y="3310128"/>
            <a:ext cx="1481328" cy="292608"/>
          </a:xfrm>
          <a:prstGeom prst="rect">
            <a:avLst/>
          </a:prstGeom>
          <a:noFill/>
        </p:spPr>
        <p:txBody>
          <a:bodyPr wrap="square" lIns="22860" rIns="22860" tIns="16459" bIns="16459" anchor="ctr">
            <a:normAutofit/>
          </a:bodyPr>
          <a:lstStyle/>
          <a:p>
            <a:pPr algn="ctr"/>
            <a:r>
              <a:rPr sz="1080" b="0">
                <a:solidFill>
                  <a:srgbClr val="251F1E"/>
                </a:solidFill>
                <a:latin typeface="Microsoft YaHei"/>
                <a:ea typeface="Microsoft YaHei"/>
                <a:cs typeface="Microsoft YaHei"/>
              </a:rPr>
              <a:t>青年行动</a:t>
            </a:r>
          </a:p>
        </p:txBody>
      </p:sp>
      <p:sp>
        <p:nvSpPr>
          <p:cNvPr id="25" name="Rounded Rectangle 24"/>
          <p:cNvSpPr/>
          <p:nvPr/>
        </p:nvSpPr>
        <p:spPr>
          <a:xfrm>
            <a:off x="868680" y="4315968"/>
            <a:ext cx="10241280" cy="1225296"/>
          </a:xfrm>
          <a:prstGeom prst="roundRect">
            <a:avLst/>
          </a:prstGeom>
          <a:solidFill>
            <a:srgbClr val="DDEAE2"/>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6" name="TextBox 25"/>
          <p:cNvSpPr txBox="1"/>
          <p:nvPr/>
        </p:nvSpPr>
        <p:spPr>
          <a:xfrm>
            <a:off x="1097280" y="4535424"/>
            <a:ext cx="9765792" cy="969264"/>
          </a:xfrm>
          <a:prstGeom prst="rect">
            <a:avLst/>
          </a:prstGeom>
          <a:noFill/>
        </p:spPr>
        <p:txBody>
          <a:bodyPr wrap="square" lIns="22860" rIns="22860" tIns="16459" bIns="16459" anchor="t">
            <a:normAutofit/>
          </a:bodyPr>
          <a:lstStyle/>
          <a:p>
            <a:pPr algn="l">
              <a:spcAft>
                <a:spcPts val="400"/>
              </a:spcAft>
            </a:pPr>
            <a:r>
              <a:rPr sz="1000">
                <a:solidFill>
                  <a:srgbClr val="251F1E"/>
                </a:solidFill>
                <a:latin typeface="Microsoft YaHei"/>
                <a:ea typeface="Microsoft YaHei"/>
                <a:cs typeface="Microsoft YaHei"/>
              </a:rPr>
              <a:t>• 理论对应：人民至上、守正创新、问题导向、系统观念。</a:t>
            </a:r>
          </a:p>
          <a:p>
            <a:pPr algn="l">
              <a:spcAft>
                <a:spcPts val="400"/>
              </a:spcAft>
            </a:pPr>
            <a:r>
              <a:rPr sz="1000">
                <a:solidFill>
                  <a:srgbClr val="251F1E"/>
                </a:solidFill>
                <a:latin typeface="Microsoft YaHei"/>
                <a:ea typeface="Microsoft YaHei"/>
                <a:cs typeface="Microsoft YaHei"/>
              </a:rPr>
              <a:t>• 如果没有共同思想基础，社会讨论会怎样分裂；坚持正确思想引领，又如何凝聚方向和行动。</a:t>
            </a:r>
          </a:p>
          <a:p>
            <a:pPr algn="l">
              <a:spcAft>
                <a:spcPts val="400"/>
              </a:spcAft>
            </a:pPr>
            <a:r>
              <a:rPr sz="1000">
                <a:solidFill>
                  <a:srgbClr val="251F1E"/>
                </a:solidFill>
                <a:latin typeface="Microsoft YaHei"/>
                <a:ea typeface="Microsoft YaHei"/>
                <a:cs typeface="Microsoft YaHei"/>
              </a:rPr>
              <a:t>• 前半段展示谣言扩散、情绪对立、断章取义等场景；后半段展示权威辟谣、课堂讨论、社会实践和青年行动。</a:t>
            </a:r>
          </a:p>
          <a:p>
            <a:pPr algn="l">
              <a:spcAft>
                <a:spcPts val="400"/>
              </a:spcAft>
            </a:pPr>
            <a:r>
              <a:rPr sz="1000">
                <a:solidFill>
                  <a:srgbClr val="251F1E"/>
                </a:solidFill>
                <a:latin typeface="Microsoft YaHei"/>
                <a:ea typeface="Microsoft YaHei"/>
                <a:cs typeface="Microsoft YaHei"/>
              </a:rPr>
              <a:t>• 视频不需要宏大叙事，最好从校园生活或网络热点切入，让同学能马上理解。</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182880"/>
          </a:xfrm>
          <a:prstGeom prst="rect">
            <a:avLst/>
          </a:prstGeom>
          <a:noFill/>
        </p:spPr>
        <p:txBody>
          <a:bodyPr wrap="square" lIns="22860" rIns="22860" tIns="16459" bIns="16459" anchor="ctr">
            <a:normAutofit/>
          </a:bodyPr>
          <a:lstStyle/>
          <a:p>
            <a:pPr algn="ctr"/>
            <a:r>
              <a:rPr sz="980" b="1">
                <a:solidFill>
                  <a:srgbClr val="FFFDF8"/>
                </a:solidFill>
                <a:latin typeface="Microsoft YaHei"/>
                <a:ea typeface="Microsoft YaHei"/>
                <a:cs typeface="Microsoft YaHei"/>
              </a:rPr>
              <a:t>结语</a:t>
            </a:r>
          </a:p>
        </p:txBody>
      </p:sp>
      <p:sp>
        <p:nvSpPr>
          <p:cNvPr id="8" name="TextBox 7"/>
          <p:cNvSpPr txBox="1"/>
          <p:nvPr/>
        </p:nvSpPr>
        <p:spPr>
          <a:xfrm>
            <a:off x="9948672" y="6327648"/>
            <a:ext cx="1664208" cy="274320"/>
          </a:xfrm>
          <a:prstGeom prst="rect">
            <a:avLst/>
          </a:prstGeom>
          <a:noFill/>
        </p:spPr>
        <p:txBody>
          <a:bodyPr wrap="square" lIns="22860" rIns="22860" tIns="16459" bIns="16459" anchor="ctr">
            <a:normAutofit/>
          </a:bodyPr>
          <a:lstStyle/>
          <a:p>
            <a:pPr algn="ctr"/>
            <a:r>
              <a:rPr sz="800" b="0">
                <a:solidFill>
                  <a:srgbClr val="6D625C"/>
                </a:solidFill>
                <a:latin typeface="Microsoft YaHei"/>
                <a:ea typeface="Microsoft YaHei"/>
                <a:cs typeface="Microsoft YaHei"/>
              </a:rPr>
              <a:t>第 18 页／共 20 页</a:t>
            </a:r>
          </a:p>
        </p:txBody>
      </p:sp>
      <p:sp>
        <p:nvSpPr>
          <p:cNvPr id="9" name="TextBox 8"/>
          <p:cNvSpPr txBox="1"/>
          <p:nvPr/>
        </p:nvSpPr>
        <p:spPr>
          <a:xfrm>
            <a:off x="566928" y="694944"/>
            <a:ext cx="10607040" cy="658368"/>
          </a:xfrm>
          <a:prstGeom prst="rect">
            <a:avLst/>
          </a:prstGeom>
          <a:noFill/>
        </p:spPr>
        <p:txBody>
          <a:bodyPr wrap="square" lIns="22860" rIns="22860" tIns="16459" bIns="16459" anchor="ctr">
            <a:normAutofit/>
          </a:bodyPr>
          <a:lstStyle/>
          <a:p>
            <a:pPr algn="l"/>
            <a:r>
              <a:rPr sz="2500" b="1">
                <a:solidFill>
                  <a:srgbClr val="681412"/>
                </a:solidFill>
                <a:latin typeface="Microsoft YaHei"/>
                <a:ea typeface="Microsoft YaHei"/>
                <a:cs typeface="Microsoft YaHei"/>
              </a:rPr>
              <a:t>总结观点</a:t>
            </a:r>
          </a:p>
        </p:txBody>
      </p:sp>
      <p:sp>
        <p:nvSpPr>
          <p:cNvPr id="10" name="Rectangle 9"/>
          <p:cNvSpPr/>
          <p:nvPr/>
        </p:nvSpPr>
        <p:spPr>
          <a:xfrm>
            <a:off x="603504" y="138988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Rounded Rectangle 10"/>
          <p:cNvSpPr/>
          <p:nvPr/>
        </p:nvSpPr>
        <p:spPr>
          <a:xfrm>
            <a:off x="804672" y="1810512"/>
            <a:ext cx="4892040" cy="14447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2" name="TextBox 11"/>
          <p:cNvSpPr txBox="1"/>
          <p:nvPr/>
        </p:nvSpPr>
        <p:spPr>
          <a:xfrm>
            <a:off x="1060704" y="2011680"/>
            <a:ext cx="1417320" cy="201168"/>
          </a:xfrm>
          <a:prstGeom prst="rect">
            <a:avLst/>
          </a:prstGeom>
          <a:noFill/>
        </p:spPr>
        <p:txBody>
          <a:bodyPr wrap="square" lIns="22860" rIns="22860" tIns="16459" bIns="16459" anchor="ctr">
            <a:normAutofit/>
          </a:bodyPr>
          <a:lstStyle/>
          <a:p>
            <a:pPr algn="ctr"/>
            <a:r>
              <a:rPr sz="1300" b="1">
                <a:solidFill>
                  <a:srgbClr val="A52622"/>
                </a:solidFill>
                <a:latin typeface="Microsoft YaHei"/>
                <a:ea typeface="Microsoft YaHei"/>
                <a:cs typeface="Microsoft YaHei"/>
              </a:rPr>
              <a:t>历史经验</a:t>
            </a:r>
          </a:p>
        </p:txBody>
      </p:sp>
      <p:sp>
        <p:nvSpPr>
          <p:cNvPr id="13" name="TextBox 12"/>
          <p:cNvSpPr txBox="1"/>
          <p:nvPr/>
        </p:nvSpPr>
        <p:spPr>
          <a:xfrm>
            <a:off x="1060704" y="2359152"/>
            <a:ext cx="4315968" cy="493776"/>
          </a:xfrm>
          <a:prstGeom prst="rect">
            <a:avLst/>
          </a:prstGeom>
          <a:noFill/>
        </p:spPr>
        <p:txBody>
          <a:bodyPr wrap="square" lIns="22860" rIns="22860" tIns="16459" bIns="16459" anchor="t">
            <a:normAutofit/>
          </a:bodyPr>
          <a:lstStyle/>
          <a:p>
            <a:pPr algn="l"/>
            <a:r>
              <a:rPr sz="1220" b="0">
                <a:solidFill>
                  <a:srgbClr val="251F1E"/>
                </a:solidFill>
                <a:latin typeface="Microsoft YaHei"/>
                <a:ea typeface="Microsoft YaHei"/>
                <a:cs typeface="Microsoft YaHei"/>
              </a:rPr>
              <a:t>坚持指导地位，是历史经验、现实需要和制度建设共同提出的要求。</a:t>
            </a:r>
          </a:p>
        </p:txBody>
      </p:sp>
      <p:sp>
        <p:nvSpPr>
          <p:cNvPr id="14" name="Rounded Rectangle 13"/>
          <p:cNvSpPr/>
          <p:nvPr/>
        </p:nvSpPr>
        <p:spPr>
          <a:xfrm>
            <a:off x="6245352" y="1810512"/>
            <a:ext cx="4892040" cy="1444752"/>
          </a:xfrm>
          <a:prstGeom prst="roundRect">
            <a:avLst/>
          </a:prstGeom>
          <a:solidFill>
            <a:srgbClr val="F0D8D4"/>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5" name="TextBox 14"/>
          <p:cNvSpPr txBox="1"/>
          <p:nvPr/>
        </p:nvSpPr>
        <p:spPr>
          <a:xfrm>
            <a:off x="6501384" y="2011680"/>
            <a:ext cx="1417320" cy="201168"/>
          </a:xfrm>
          <a:prstGeom prst="rect">
            <a:avLst/>
          </a:prstGeom>
          <a:noFill/>
        </p:spPr>
        <p:txBody>
          <a:bodyPr wrap="square" lIns="22860" rIns="22860" tIns="16459" bIns="16459" anchor="ctr">
            <a:normAutofit/>
          </a:bodyPr>
          <a:lstStyle/>
          <a:p>
            <a:pPr algn="ctr"/>
            <a:r>
              <a:rPr sz="1300" b="1">
                <a:solidFill>
                  <a:srgbClr val="A52622"/>
                </a:solidFill>
                <a:latin typeface="Microsoft YaHei"/>
                <a:ea typeface="Microsoft YaHei"/>
                <a:cs typeface="Microsoft YaHei"/>
              </a:rPr>
              <a:t>新时代指导</a:t>
            </a:r>
          </a:p>
        </p:txBody>
      </p:sp>
      <p:sp>
        <p:nvSpPr>
          <p:cNvPr id="16" name="TextBox 15"/>
          <p:cNvSpPr txBox="1"/>
          <p:nvPr/>
        </p:nvSpPr>
        <p:spPr>
          <a:xfrm>
            <a:off x="6501384" y="2359152"/>
            <a:ext cx="4315968" cy="493776"/>
          </a:xfrm>
          <a:prstGeom prst="rect">
            <a:avLst/>
          </a:prstGeom>
          <a:noFill/>
        </p:spPr>
        <p:txBody>
          <a:bodyPr wrap="square" lIns="22860" rIns="22860" tIns="16459" bIns="16459" anchor="t">
            <a:normAutofit/>
          </a:bodyPr>
          <a:lstStyle/>
          <a:p>
            <a:pPr algn="l"/>
            <a:r>
              <a:rPr sz="1220" b="0">
                <a:solidFill>
                  <a:srgbClr val="251F1E"/>
                </a:solidFill>
                <a:latin typeface="Microsoft YaHei"/>
                <a:ea typeface="Microsoft YaHei"/>
                <a:cs typeface="Microsoft YaHei"/>
              </a:rPr>
              <a:t>这一根本制度在新时代集中体现为以习近平新时代中国特色社会主义思想为指导。</a:t>
            </a:r>
          </a:p>
        </p:txBody>
      </p:sp>
      <p:sp>
        <p:nvSpPr>
          <p:cNvPr id="17" name="Rounded Rectangle 16"/>
          <p:cNvSpPr/>
          <p:nvPr/>
        </p:nvSpPr>
        <p:spPr>
          <a:xfrm>
            <a:off x="804672" y="3749039"/>
            <a:ext cx="4892040" cy="1444752"/>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8" name="TextBox 17"/>
          <p:cNvSpPr txBox="1"/>
          <p:nvPr/>
        </p:nvSpPr>
        <p:spPr>
          <a:xfrm>
            <a:off x="1060704" y="3950207"/>
            <a:ext cx="1417320" cy="201168"/>
          </a:xfrm>
          <a:prstGeom prst="rect">
            <a:avLst/>
          </a:prstGeom>
          <a:noFill/>
        </p:spPr>
        <p:txBody>
          <a:bodyPr wrap="square" lIns="22860" rIns="22860" tIns="16459" bIns="16459" anchor="ctr">
            <a:normAutofit/>
          </a:bodyPr>
          <a:lstStyle/>
          <a:p>
            <a:pPr algn="ctr"/>
            <a:r>
              <a:rPr sz="1300" b="1">
                <a:solidFill>
                  <a:srgbClr val="A52622"/>
                </a:solidFill>
                <a:latin typeface="Microsoft YaHei"/>
                <a:ea typeface="Microsoft YaHei"/>
                <a:cs typeface="Microsoft YaHei"/>
              </a:rPr>
              <a:t>守正创新</a:t>
            </a:r>
          </a:p>
        </p:txBody>
      </p:sp>
      <p:sp>
        <p:nvSpPr>
          <p:cNvPr id="19" name="TextBox 18"/>
          <p:cNvSpPr txBox="1"/>
          <p:nvPr/>
        </p:nvSpPr>
        <p:spPr>
          <a:xfrm>
            <a:off x="1060704" y="4297679"/>
            <a:ext cx="4315968" cy="493776"/>
          </a:xfrm>
          <a:prstGeom prst="rect">
            <a:avLst/>
          </a:prstGeom>
          <a:noFill/>
        </p:spPr>
        <p:txBody>
          <a:bodyPr wrap="square" lIns="22860" rIns="22860" tIns="16459" bIns="16459" anchor="t">
            <a:normAutofit/>
          </a:bodyPr>
          <a:lstStyle/>
          <a:p>
            <a:pPr algn="l"/>
            <a:r>
              <a:rPr sz="1220" b="0">
                <a:solidFill>
                  <a:srgbClr val="251F1E"/>
                </a:solidFill>
                <a:latin typeface="Microsoft YaHei"/>
                <a:ea typeface="Microsoft YaHei"/>
                <a:cs typeface="Microsoft YaHei"/>
              </a:rPr>
              <a:t>坚持不是僵化封闭，而是要提高理论解释力、思想凝聚力和实践引领力。</a:t>
            </a:r>
          </a:p>
        </p:txBody>
      </p:sp>
      <p:sp>
        <p:nvSpPr>
          <p:cNvPr id="20" name="Rounded Rectangle 19"/>
          <p:cNvSpPr/>
          <p:nvPr/>
        </p:nvSpPr>
        <p:spPr>
          <a:xfrm>
            <a:off x="6245352" y="3749039"/>
            <a:ext cx="4892040" cy="1444752"/>
          </a:xfrm>
          <a:prstGeom prst="roundRect">
            <a:avLst/>
          </a:prstGeom>
          <a:solidFill>
            <a:srgbClr val="F0D8D4"/>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1" name="TextBox 20"/>
          <p:cNvSpPr txBox="1"/>
          <p:nvPr/>
        </p:nvSpPr>
        <p:spPr>
          <a:xfrm>
            <a:off x="6501384" y="3950207"/>
            <a:ext cx="1417320" cy="201168"/>
          </a:xfrm>
          <a:prstGeom prst="rect">
            <a:avLst/>
          </a:prstGeom>
          <a:noFill/>
        </p:spPr>
        <p:txBody>
          <a:bodyPr wrap="square" lIns="22860" rIns="22860" tIns="16459" bIns="16459" anchor="ctr">
            <a:normAutofit/>
          </a:bodyPr>
          <a:lstStyle/>
          <a:p>
            <a:pPr algn="ctr"/>
            <a:r>
              <a:rPr sz="1300" b="1">
                <a:solidFill>
                  <a:srgbClr val="A52622"/>
                </a:solidFill>
                <a:latin typeface="Microsoft YaHei"/>
                <a:ea typeface="Microsoft YaHei"/>
                <a:cs typeface="Microsoft YaHei"/>
              </a:rPr>
              <a:t>底线意识</a:t>
            </a:r>
          </a:p>
        </p:txBody>
      </p:sp>
      <p:sp>
        <p:nvSpPr>
          <p:cNvPr id="22" name="TextBox 21"/>
          <p:cNvSpPr txBox="1"/>
          <p:nvPr/>
        </p:nvSpPr>
        <p:spPr>
          <a:xfrm>
            <a:off x="6501384" y="4297679"/>
            <a:ext cx="4315968" cy="493776"/>
          </a:xfrm>
          <a:prstGeom prst="rect">
            <a:avLst/>
          </a:prstGeom>
          <a:noFill/>
        </p:spPr>
        <p:txBody>
          <a:bodyPr wrap="square" lIns="22860" rIns="22860" tIns="16459" bIns="16459" anchor="t">
            <a:normAutofit/>
          </a:bodyPr>
          <a:lstStyle/>
          <a:p>
            <a:pPr algn="l"/>
            <a:r>
              <a:rPr sz="1220" b="0">
                <a:solidFill>
                  <a:srgbClr val="251F1E"/>
                </a:solidFill>
                <a:latin typeface="Microsoft YaHei"/>
                <a:ea typeface="Microsoft YaHei"/>
                <a:cs typeface="Microsoft YaHei"/>
              </a:rPr>
              <a:t>多样化讨论可以存在，但必须守住事实底线、价值底线和国家文化安全底线。</a:t>
            </a:r>
          </a:p>
        </p:txBody>
      </p:sp>
      <p:sp>
        <p:nvSpPr>
          <p:cNvPr id="23" name="TextBox 22"/>
          <p:cNvSpPr txBox="1"/>
          <p:nvPr/>
        </p:nvSpPr>
        <p:spPr>
          <a:xfrm>
            <a:off x="960120" y="5687568"/>
            <a:ext cx="10241280" cy="256032"/>
          </a:xfrm>
          <a:prstGeom prst="rect">
            <a:avLst/>
          </a:prstGeom>
          <a:noFill/>
        </p:spPr>
        <p:txBody>
          <a:bodyPr wrap="square" lIns="22860" rIns="22860" tIns="16459" bIns="16459" anchor="ctr">
            <a:normAutofit/>
          </a:bodyPr>
          <a:lstStyle/>
          <a:p>
            <a:pPr algn="ctr"/>
            <a:r>
              <a:rPr sz="1400" b="1">
                <a:solidFill>
                  <a:srgbClr val="681412"/>
                </a:solidFill>
                <a:latin typeface="Microsoft YaHei"/>
                <a:ea typeface="Microsoft YaHei"/>
                <a:cs typeface="Microsoft YaHei"/>
              </a:rPr>
              <a:t>制度必要性来自历史、现实和实践的共同要求。</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6"/>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9144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0" y="6611112"/>
            <a:ext cx="12191695" cy="5486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5" name="Rectangle 4"/>
          <p:cNvSpPr/>
          <p:nvPr/>
        </p:nvSpPr>
        <p:spPr>
          <a:xfrm>
            <a:off x="0" y="0"/>
            <a:ext cx="146304" cy="6858000"/>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6" name="Rounded Rectangle 5"/>
          <p:cNvSpPr/>
          <p:nvPr/>
        </p:nvSpPr>
        <p:spPr>
          <a:xfrm>
            <a:off x="530352" y="292608"/>
            <a:ext cx="1572768" cy="310896"/>
          </a:xfrm>
          <a:prstGeom prst="round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7" name="TextBox 6"/>
          <p:cNvSpPr txBox="1"/>
          <p:nvPr/>
        </p:nvSpPr>
        <p:spPr>
          <a:xfrm>
            <a:off x="603504" y="333756"/>
            <a:ext cx="1426464" cy="292608"/>
          </a:xfrm>
          <a:prstGeom prst="rect">
            <a:avLst/>
          </a:prstGeom>
          <a:noFill/>
        </p:spPr>
        <p:txBody>
          <a:bodyPr wrap="square" lIns="22860" rIns="22860" tIns="16459" bIns="16459" anchor="ctr">
            <a:normAutofit/>
          </a:bodyPr>
          <a:lstStyle/>
          <a:p>
            <a:pPr algn="ctr"/>
            <a:r>
              <a:rPr sz="1000" b="1">
                <a:solidFill>
                  <a:srgbClr val="FFFDF8"/>
                </a:solidFill>
                <a:latin typeface="Microsoft YaHei"/>
                <a:ea typeface="Microsoft YaHei"/>
                <a:cs typeface="Microsoft YaHei"/>
              </a:rPr>
              <a:t>结语</a:t>
            </a:r>
          </a:p>
        </p:txBody>
      </p:sp>
      <p:sp>
        <p:nvSpPr>
          <p:cNvPr id="8" name="TextBox 7"/>
          <p:cNvSpPr txBox="1"/>
          <p:nvPr/>
        </p:nvSpPr>
        <p:spPr>
          <a:xfrm>
            <a:off x="9966960" y="6364224"/>
            <a:ext cx="1627632" cy="292608"/>
          </a:xfrm>
          <a:prstGeom prst="rect">
            <a:avLst/>
          </a:prstGeom>
          <a:noFill/>
        </p:spPr>
        <p:txBody>
          <a:bodyPr wrap="square" lIns="22860" rIns="22860" tIns="16459" bIns="16459" anchor="ctr">
            <a:normAutofit/>
          </a:bodyPr>
          <a:lstStyle/>
          <a:p>
            <a:pPr algn="ctr"/>
            <a:r>
              <a:rPr sz="819" b="0">
                <a:solidFill>
                  <a:srgbClr val="6D625C"/>
                </a:solidFill>
                <a:latin typeface="Microsoft YaHei"/>
                <a:ea typeface="Microsoft YaHei"/>
                <a:cs typeface="Microsoft YaHei"/>
              </a:rPr>
              <a:t>第 19 页／共 20 页</a:t>
            </a:r>
          </a:p>
        </p:txBody>
      </p:sp>
      <p:sp>
        <p:nvSpPr>
          <p:cNvPr id="9" name="TextBox 8"/>
          <p:cNvSpPr txBox="1"/>
          <p:nvPr/>
        </p:nvSpPr>
        <p:spPr>
          <a:xfrm>
            <a:off x="566928" y="713232"/>
            <a:ext cx="10607040" cy="530352"/>
          </a:xfrm>
          <a:prstGeom prst="rect">
            <a:avLst/>
          </a:prstGeom>
          <a:noFill/>
        </p:spPr>
        <p:txBody>
          <a:bodyPr wrap="square" lIns="22860" rIns="22860" tIns="16459" bIns="16459" anchor="ctr">
            <a:normAutofit/>
          </a:bodyPr>
          <a:lstStyle/>
          <a:p>
            <a:pPr algn="l"/>
            <a:r>
              <a:rPr sz="2700" b="1">
                <a:solidFill>
                  <a:srgbClr val="681412"/>
                </a:solidFill>
                <a:latin typeface="Microsoft YaHei"/>
                <a:ea typeface="Microsoft YaHei"/>
                <a:cs typeface="Microsoft YaHei"/>
              </a:rPr>
              <a:t>升华</a:t>
            </a:r>
          </a:p>
        </p:txBody>
      </p:sp>
      <p:sp>
        <p:nvSpPr>
          <p:cNvPr id="10" name="Rectangle 9"/>
          <p:cNvSpPr/>
          <p:nvPr/>
        </p:nvSpPr>
        <p:spPr>
          <a:xfrm>
            <a:off x="603504" y="1344168"/>
            <a:ext cx="1737360" cy="4572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1" name="Rectangle 10"/>
          <p:cNvSpPr/>
          <p:nvPr/>
        </p:nvSpPr>
        <p:spPr>
          <a:xfrm>
            <a:off x="914400" y="4480560"/>
            <a:ext cx="1965960" cy="530352"/>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2" name="TextBox 11"/>
          <p:cNvSpPr txBox="1"/>
          <p:nvPr/>
        </p:nvSpPr>
        <p:spPr>
          <a:xfrm>
            <a:off x="1572768" y="4645152"/>
            <a:ext cx="640080" cy="292608"/>
          </a:xfrm>
          <a:prstGeom prst="rect">
            <a:avLst/>
          </a:prstGeom>
          <a:noFill/>
        </p:spPr>
        <p:txBody>
          <a:bodyPr wrap="square" lIns="22860" rIns="22860" tIns="16459" bIns="16459" anchor="ctr">
            <a:normAutofit/>
          </a:bodyPr>
          <a:lstStyle/>
          <a:p>
            <a:pPr algn="ctr"/>
            <a:r>
              <a:rPr sz="1320" b="1">
                <a:solidFill>
                  <a:srgbClr val="FFFDF8"/>
                </a:solidFill>
                <a:latin typeface="Microsoft YaHei"/>
                <a:ea typeface="Microsoft YaHei"/>
                <a:cs typeface="Microsoft YaHei"/>
              </a:rPr>
              <a:t>查证</a:t>
            </a:r>
          </a:p>
        </p:txBody>
      </p:sp>
      <p:sp>
        <p:nvSpPr>
          <p:cNvPr id="13" name="Rectangle 12"/>
          <p:cNvSpPr/>
          <p:nvPr/>
        </p:nvSpPr>
        <p:spPr>
          <a:xfrm>
            <a:off x="3246120" y="3886200"/>
            <a:ext cx="1965960" cy="694944"/>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14" name="TextBox 13"/>
          <p:cNvSpPr txBox="1"/>
          <p:nvPr/>
        </p:nvSpPr>
        <p:spPr>
          <a:xfrm>
            <a:off x="3904487" y="4050791"/>
            <a:ext cx="640080" cy="292608"/>
          </a:xfrm>
          <a:prstGeom prst="rect">
            <a:avLst/>
          </a:prstGeom>
          <a:noFill/>
        </p:spPr>
        <p:txBody>
          <a:bodyPr wrap="square" lIns="22860" rIns="22860" tIns="16459" bIns="16459" anchor="ctr">
            <a:normAutofit/>
          </a:bodyPr>
          <a:lstStyle/>
          <a:p>
            <a:pPr algn="ctr"/>
            <a:r>
              <a:rPr sz="1320" b="1">
                <a:solidFill>
                  <a:srgbClr val="FFFDF8"/>
                </a:solidFill>
                <a:latin typeface="Microsoft YaHei"/>
                <a:ea typeface="Microsoft YaHei"/>
                <a:cs typeface="Microsoft YaHei"/>
              </a:rPr>
              <a:t>理解</a:t>
            </a:r>
          </a:p>
        </p:txBody>
      </p:sp>
      <p:sp>
        <p:nvSpPr>
          <p:cNvPr id="15" name="Rectangle 14"/>
          <p:cNvSpPr/>
          <p:nvPr/>
        </p:nvSpPr>
        <p:spPr>
          <a:xfrm>
            <a:off x="5577840" y="3291840"/>
            <a:ext cx="1965960" cy="859536"/>
          </a:xfrm>
          <a:prstGeom prst="rect">
            <a:avLst/>
          </a:prstGeom>
          <a:solidFill>
            <a:srgbClr val="A5262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6" name="TextBox 15"/>
          <p:cNvSpPr txBox="1"/>
          <p:nvPr/>
        </p:nvSpPr>
        <p:spPr>
          <a:xfrm>
            <a:off x="6236207" y="3456432"/>
            <a:ext cx="640080" cy="292608"/>
          </a:xfrm>
          <a:prstGeom prst="rect">
            <a:avLst/>
          </a:prstGeom>
          <a:noFill/>
        </p:spPr>
        <p:txBody>
          <a:bodyPr wrap="square" lIns="22860" rIns="22860" tIns="16459" bIns="16459" anchor="ctr">
            <a:normAutofit/>
          </a:bodyPr>
          <a:lstStyle/>
          <a:p>
            <a:pPr algn="ctr"/>
            <a:r>
              <a:rPr sz="1320" b="1">
                <a:solidFill>
                  <a:srgbClr val="FFFDF8"/>
                </a:solidFill>
                <a:latin typeface="Microsoft YaHei"/>
                <a:ea typeface="Microsoft YaHei"/>
                <a:cs typeface="Microsoft YaHei"/>
              </a:rPr>
              <a:t>实践</a:t>
            </a:r>
          </a:p>
        </p:txBody>
      </p:sp>
      <p:sp>
        <p:nvSpPr>
          <p:cNvPr id="17" name="Rectangle 16"/>
          <p:cNvSpPr/>
          <p:nvPr/>
        </p:nvSpPr>
        <p:spPr>
          <a:xfrm>
            <a:off x="7909559" y="2697480"/>
            <a:ext cx="1965960" cy="1024128"/>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18" name="TextBox 17"/>
          <p:cNvSpPr txBox="1"/>
          <p:nvPr/>
        </p:nvSpPr>
        <p:spPr>
          <a:xfrm>
            <a:off x="8567928" y="2862072"/>
            <a:ext cx="640080" cy="292608"/>
          </a:xfrm>
          <a:prstGeom prst="rect">
            <a:avLst/>
          </a:prstGeom>
          <a:noFill/>
        </p:spPr>
        <p:txBody>
          <a:bodyPr wrap="square" lIns="22860" rIns="22860" tIns="16459" bIns="16459" anchor="ctr">
            <a:normAutofit/>
          </a:bodyPr>
          <a:lstStyle/>
          <a:p>
            <a:pPr algn="ctr"/>
            <a:r>
              <a:rPr sz="1320" b="1">
                <a:solidFill>
                  <a:srgbClr val="FFFDF8"/>
                </a:solidFill>
                <a:latin typeface="Microsoft YaHei"/>
                <a:ea typeface="Microsoft YaHei"/>
                <a:cs typeface="Microsoft YaHei"/>
              </a:rPr>
              <a:t>传播</a:t>
            </a:r>
          </a:p>
        </p:txBody>
      </p:sp>
      <p:sp>
        <p:nvSpPr>
          <p:cNvPr id="19" name="Rounded Rectangle 18"/>
          <p:cNvSpPr/>
          <p:nvPr/>
        </p:nvSpPr>
        <p:spPr>
          <a:xfrm>
            <a:off x="868680" y="1700784"/>
            <a:ext cx="4526280" cy="1188720"/>
          </a:xfrm>
          <a:prstGeom prst="roundRect">
            <a:avLst/>
          </a:prstGeom>
          <a:solidFill>
            <a:srgbClr val="FFFDF8"/>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0" name="TextBox 19"/>
          <p:cNvSpPr txBox="1"/>
          <p:nvPr/>
        </p:nvSpPr>
        <p:spPr>
          <a:xfrm>
            <a:off x="1115568" y="1975104"/>
            <a:ext cx="4005072" cy="384048"/>
          </a:xfrm>
          <a:prstGeom prst="rect">
            <a:avLst/>
          </a:prstGeom>
          <a:noFill/>
        </p:spPr>
        <p:txBody>
          <a:bodyPr wrap="square" lIns="22860" rIns="22860" tIns="16459" bIns="16459" anchor="t">
            <a:normAutofit/>
          </a:bodyPr>
          <a:lstStyle/>
          <a:p>
            <a:pPr algn="l"/>
            <a:r>
              <a:rPr sz="1050" b="1">
                <a:solidFill>
                  <a:srgbClr val="681412"/>
                </a:solidFill>
                <a:latin typeface="Microsoft YaHei"/>
                <a:ea typeface="Microsoft YaHei"/>
                <a:cs typeface="Microsoft YaHei"/>
              </a:rPr>
              <a:t>思想防线关系国家安全、文化安全和青年成长，是看不见但极其重要的基础防线。</a:t>
            </a:r>
          </a:p>
        </p:txBody>
      </p:sp>
      <p:sp>
        <p:nvSpPr>
          <p:cNvPr id="21" name="Rounded Rectangle 20"/>
          <p:cNvSpPr/>
          <p:nvPr/>
        </p:nvSpPr>
        <p:spPr>
          <a:xfrm>
            <a:off x="5715000" y="1700784"/>
            <a:ext cx="5340096" cy="1865376"/>
          </a:xfrm>
          <a:prstGeom prst="roundRect">
            <a:avLst/>
          </a:prstGeom>
          <a:solidFill>
            <a:srgbClr val="F0D8D4"/>
          </a:solidFill>
          <a:ln w="12700">
            <a:solidFill>
              <a:srgbClr val="D7C9B2"/>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22" name="TextBox 21"/>
          <p:cNvSpPr txBox="1"/>
          <p:nvPr/>
        </p:nvSpPr>
        <p:spPr>
          <a:xfrm>
            <a:off x="5943600" y="1938528"/>
            <a:ext cx="4846320" cy="1463040"/>
          </a:xfrm>
          <a:prstGeom prst="rect">
            <a:avLst/>
          </a:prstGeom>
          <a:noFill/>
        </p:spPr>
        <p:txBody>
          <a:bodyPr wrap="square" lIns="22860" rIns="22860" tIns="16459" bIns="16459" anchor="t">
            <a:normAutofit/>
          </a:bodyPr>
          <a:lstStyle/>
          <a:p>
            <a:pPr algn="l">
              <a:spcAft>
                <a:spcPts val="400"/>
              </a:spcAft>
            </a:pPr>
            <a:r>
              <a:rPr sz="1000">
                <a:solidFill>
                  <a:srgbClr val="251F1E"/>
                </a:solidFill>
                <a:latin typeface="Microsoft YaHei"/>
                <a:ea typeface="Microsoft YaHei"/>
                <a:cs typeface="Microsoft YaHei"/>
              </a:rPr>
              <a:t>• 青年责任：坚定理想信念，明辨是非曲直，提升媒介素养，把个人成长融入国家发展。</a:t>
            </a:r>
          </a:p>
          <a:p>
            <a:pPr algn="l">
              <a:spcAft>
                <a:spcPts val="400"/>
              </a:spcAft>
            </a:pPr>
            <a:r>
              <a:rPr sz="1000">
                <a:solidFill>
                  <a:srgbClr val="251F1E"/>
                </a:solidFill>
                <a:latin typeface="Microsoft YaHei"/>
                <a:ea typeface="Microsoft YaHei"/>
                <a:cs typeface="Microsoft YaHei"/>
              </a:rPr>
              <a:t>• 行动路径：遇到热点先查证，学习理论联系现实，参与社会实践，主动传播积极健康的价值内容。</a:t>
            </a:r>
          </a:p>
          <a:p>
            <a:pPr algn="l">
              <a:spcAft>
                <a:spcPts val="400"/>
              </a:spcAft>
            </a:pPr>
            <a:r>
              <a:rPr sz="1000">
                <a:solidFill>
                  <a:srgbClr val="251F1E"/>
                </a:solidFill>
                <a:latin typeface="Microsoft YaHei"/>
                <a:ea typeface="Microsoft YaHei"/>
                <a:cs typeface="Microsoft YaHei"/>
              </a:rPr>
              <a:t>• 有共同思想基础，社会才有主心骨；有守正创新，理论才有生命力；有青年担当，国家发展才有未来。</a:t>
            </a:r>
          </a:p>
        </p:txBody>
      </p:sp>
      <p:sp>
        <p:nvSpPr>
          <p:cNvPr id="23" name="TextBox 22"/>
          <p:cNvSpPr txBox="1"/>
          <p:nvPr/>
        </p:nvSpPr>
        <p:spPr>
          <a:xfrm>
            <a:off x="987552" y="5705856"/>
            <a:ext cx="9966960" cy="402336"/>
          </a:xfrm>
          <a:prstGeom prst="rect">
            <a:avLst/>
          </a:prstGeom>
          <a:noFill/>
        </p:spPr>
        <p:txBody>
          <a:bodyPr wrap="square" lIns="22860" rIns="22860" tIns="16459" bIns="16459" anchor="t">
            <a:normAutofit/>
          </a:bodyPr>
          <a:lstStyle/>
          <a:p>
            <a:pPr algn="ctr"/>
            <a:r>
              <a:rPr sz="1320" b="1">
                <a:solidFill>
                  <a:srgbClr val="681412"/>
                </a:solidFill>
                <a:latin typeface="Microsoft YaHei"/>
                <a:ea typeface="Microsoft YaHei"/>
                <a:cs typeface="Microsoft YaHei"/>
              </a:rPr>
              <a:t>青年担当不是停留在口号上，而是体现在信息判断、理论学习和现实行动中。</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81412"/>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3" name="Rectangle 2"/>
          <p:cNvSpPr/>
          <p:nvPr/>
        </p:nvSpPr>
        <p:spPr>
          <a:xfrm>
            <a:off x="0" y="0"/>
            <a:ext cx="12191695" cy="128016"/>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 rIns="22860" tIns="16459" bIns="16459">
            <a:normAutofit/>
          </a:bodyPr>
          <a:lstStyle/>
          <a:p>
            <a:pPr algn="ctr"/>
          </a:p>
        </p:txBody>
      </p:sp>
      <p:sp>
        <p:nvSpPr>
          <p:cNvPr id="4" name="Rectangle 3"/>
          <p:cNvSpPr/>
          <p:nvPr/>
        </p:nvSpPr>
        <p:spPr>
          <a:xfrm>
            <a:off x="777240" y="841248"/>
            <a:ext cx="73152" cy="5257800"/>
          </a:xfrm>
          <a:prstGeom prst="rect">
            <a:avLst/>
          </a:prstGeom>
          <a:solidFill>
            <a:srgbClr val="C99A3F"/>
          </a:solidFill>
          <a:ln>
            <a:no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5" name="TextBox 4"/>
          <p:cNvSpPr txBox="1"/>
          <p:nvPr/>
        </p:nvSpPr>
        <p:spPr>
          <a:xfrm>
            <a:off x="1078992" y="786384"/>
            <a:ext cx="5120640" cy="502920"/>
          </a:xfrm>
          <a:prstGeom prst="rect">
            <a:avLst/>
          </a:prstGeom>
          <a:noFill/>
        </p:spPr>
        <p:txBody>
          <a:bodyPr wrap="square" lIns="22860" rIns="22860" tIns="16459" bIns="16459" anchor="ctr">
            <a:normAutofit/>
          </a:bodyPr>
          <a:lstStyle/>
          <a:p>
            <a:pPr algn="l"/>
            <a:r>
              <a:rPr sz="3000" b="1">
                <a:solidFill>
                  <a:srgbClr val="FFFDF8"/>
                </a:solidFill>
                <a:latin typeface="Microsoft YaHei"/>
                <a:ea typeface="Microsoft YaHei"/>
                <a:cs typeface="Microsoft YaHei"/>
              </a:rPr>
              <a:t>参考文献与致谢</a:t>
            </a:r>
          </a:p>
        </p:txBody>
      </p:sp>
      <p:sp>
        <p:nvSpPr>
          <p:cNvPr id="6" name="Rounded Rectangle 5"/>
          <p:cNvSpPr/>
          <p:nvPr/>
        </p:nvSpPr>
        <p:spPr>
          <a:xfrm>
            <a:off x="1078992" y="1627632"/>
            <a:ext cx="9948672" cy="3054096"/>
          </a:xfrm>
          <a:prstGeom prst="roundRect">
            <a:avLst/>
          </a:prstGeom>
          <a:solidFill>
            <a:srgbClr val="FFFDF8"/>
          </a:solidFill>
          <a:ln w="12700">
            <a:solidFill>
              <a:srgbClr val="EFE1BC"/>
            </a:solidFill>
          </a:ln>
        </p:spPr>
        <p:style>
          <a:lnRef idx="1">
            <a:schemeClr val="accent1"/>
          </a:lnRef>
          <a:fillRef idx="3">
            <a:schemeClr val="accent1"/>
          </a:fillRef>
          <a:effectRef idx="2">
            <a:schemeClr val="accent1"/>
          </a:effectRef>
          <a:fontRef idx="minor">
            <a:schemeClr val="lt1"/>
          </a:fontRef>
        </p:style>
        <p:txBody>
          <a:bodyPr rtlCol="0" anchor="t" wrap="square" lIns="22860" rIns="22860" tIns="16459" bIns="16459">
            <a:normAutofit/>
          </a:bodyPr>
          <a:lstStyle/>
          <a:p>
            <a:pPr algn="ctr"/>
          </a:p>
        </p:txBody>
      </p:sp>
      <p:sp>
        <p:nvSpPr>
          <p:cNvPr id="7" name="TextBox 6"/>
          <p:cNvSpPr txBox="1"/>
          <p:nvPr/>
        </p:nvSpPr>
        <p:spPr>
          <a:xfrm>
            <a:off x="1353312" y="1901952"/>
            <a:ext cx="9290304" cy="2286000"/>
          </a:xfrm>
          <a:prstGeom prst="rect">
            <a:avLst/>
          </a:prstGeom>
          <a:noFill/>
        </p:spPr>
        <p:txBody>
          <a:bodyPr wrap="square" lIns="22860" rIns="22860" tIns="16459" bIns="16459" anchor="t">
            <a:normAutofit/>
          </a:bodyPr>
          <a:lstStyle/>
          <a:p>
            <a:pPr algn="l">
              <a:spcAft>
                <a:spcPts val="400"/>
              </a:spcAft>
            </a:pPr>
            <a:r>
              <a:rPr sz="1350">
                <a:solidFill>
                  <a:srgbClr val="251F1E"/>
                </a:solidFill>
                <a:latin typeface="Microsoft YaHei"/>
                <a:ea typeface="Microsoft YaHei"/>
                <a:cs typeface="Microsoft YaHei"/>
              </a:rPr>
              <a:t>• 习近平：《高举中国特色社会主义伟大旗帜 为全面建设社会主义现代化国家而团结奋斗——在中国共产党第二十次全国代表大会上的报告》</a:t>
            </a:r>
          </a:p>
          <a:p>
            <a:pPr algn="l">
              <a:spcAft>
                <a:spcPts val="400"/>
              </a:spcAft>
            </a:pPr>
            <a:r>
              <a:rPr sz="1350">
                <a:solidFill>
                  <a:srgbClr val="251F1E"/>
                </a:solidFill>
                <a:latin typeface="Microsoft YaHei"/>
                <a:ea typeface="Microsoft YaHei"/>
                <a:cs typeface="Microsoft YaHei"/>
              </a:rPr>
              <a:t>• 《习近平新时代中国特色社会主义思想学习纲要（2023年版）》</a:t>
            </a:r>
          </a:p>
          <a:p>
            <a:pPr algn="l">
              <a:spcAft>
                <a:spcPts val="400"/>
              </a:spcAft>
            </a:pPr>
            <a:r>
              <a:rPr sz="1350">
                <a:solidFill>
                  <a:srgbClr val="251F1E"/>
                </a:solidFill>
                <a:latin typeface="Microsoft YaHei"/>
                <a:ea typeface="Microsoft YaHei"/>
                <a:cs typeface="Microsoft YaHei"/>
              </a:rPr>
              <a:t>• 习近平：《论党的宣传思想工作》</a:t>
            </a:r>
          </a:p>
          <a:p>
            <a:pPr algn="l">
              <a:spcAft>
                <a:spcPts val="400"/>
              </a:spcAft>
            </a:pPr>
            <a:r>
              <a:rPr sz="1350">
                <a:solidFill>
                  <a:srgbClr val="251F1E"/>
                </a:solidFill>
                <a:latin typeface="Microsoft YaHei"/>
                <a:ea typeface="Microsoft YaHei"/>
                <a:cs typeface="Microsoft YaHei"/>
              </a:rPr>
              <a:t>• 国家教材委员会：《习近平新时代中国特色社会主义思想进课程教材指南》</a:t>
            </a:r>
          </a:p>
          <a:p>
            <a:pPr algn="l">
              <a:spcAft>
                <a:spcPts val="400"/>
              </a:spcAft>
            </a:pPr>
            <a:r>
              <a:rPr sz="1350">
                <a:solidFill>
                  <a:srgbClr val="251F1E"/>
                </a:solidFill>
                <a:latin typeface="Microsoft YaHei"/>
                <a:ea typeface="Microsoft YaHei"/>
                <a:cs typeface="Microsoft YaHei"/>
              </a:rPr>
              <a:t>• 教育部等十部门：《全面推进“大思政课”建设的工作方案》</a:t>
            </a:r>
          </a:p>
        </p:txBody>
      </p:sp>
      <p:sp>
        <p:nvSpPr>
          <p:cNvPr id="8" name="TextBox 7"/>
          <p:cNvSpPr txBox="1"/>
          <p:nvPr/>
        </p:nvSpPr>
        <p:spPr>
          <a:xfrm>
            <a:off x="1078992" y="5212080"/>
            <a:ext cx="4754880" cy="566928"/>
          </a:xfrm>
          <a:prstGeom prst="rect">
            <a:avLst/>
          </a:prstGeom>
          <a:noFill/>
        </p:spPr>
        <p:txBody>
          <a:bodyPr wrap="square" lIns="22860" rIns="22860" tIns="16459" bIns="16459" anchor="ctr">
            <a:normAutofit/>
          </a:bodyPr>
          <a:lstStyle/>
          <a:p>
            <a:pPr algn="l"/>
            <a:r>
              <a:rPr sz="3800" b="1">
                <a:solidFill>
                  <a:srgbClr val="EFE1BC"/>
                </a:solidFill>
                <a:latin typeface="Microsoft YaHei"/>
                <a:ea typeface="Microsoft YaHei"/>
                <a:cs typeface="Microsoft YaHei"/>
              </a:rPr>
              <a:t>谢谢观看</a:t>
            </a:r>
          </a:p>
        </p:txBody>
      </p:sp>
      <p:sp>
        <p:nvSpPr>
          <p:cNvPr id="9" name="TextBox 8"/>
          <p:cNvSpPr txBox="1"/>
          <p:nvPr/>
        </p:nvSpPr>
        <p:spPr>
          <a:xfrm>
            <a:off x="9948672" y="6364224"/>
            <a:ext cx="1645920" cy="292608"/>
          </a:xfrm>
          <a:prstGeom prst="rect">
            <a:avLst/>
          </a:prstGeom>
          <a:noFill/>
        </p:spPr>
        <p:txBody>
          <a:bodyPr wrap="square" lIns="22860" rIns="22860" tIns="16459" bIns="16459" anchor="ctr">
            <a:normAutofit/>
          </a:bodyPr>
          <a:lstStyle/>
          <a:p>
            <a:pPr algn="ctr"/>
            <a:r>
              <a:rPr sz="819" b="0">
                <a:solidFill>
                  <a:srgbClr val="EFE1BC"/>
                </a:solidFill>
                <a:latin typeface="Microsoft YaHei"/>
                <a:ea typeface="Microsoft YaHei"/>
                <a:cs typeface="Microsoft YaHei"/>
              </a:rPr>
              <a:t>第 20 页／共 20 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